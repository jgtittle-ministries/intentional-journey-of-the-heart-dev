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6" r:id="rId4"/>
    <p:sldId id="258" r:id="rId5"/>
    <p:sldId id="259" r:id="rId6"/>
    <p:sldId id="260" r:id="rId7"/>
    <p:sldId id="261" r:id="rId8"/>
    <p:sldId id="262" r:id="rId9"/>
    <p:sldId id="263" r:id="rId10"/>
    <p:sldId id="264" r:id="rId11"/>
    <p:sldId id="265"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D23E466-6ABC-48F8-BC57-042E789A71F2}">
          <p14:sldIdLst>
            <p14:sldId id="256"/>
            <p14:sldId id="257"/>
          </p14:sldIdLst>
        </p14:section>
        <p14:section name="Untitled Section" id="{411095F9-1852-4DE6-96D3-97B476DC58F6}">
          <p14:sldIdLst>
            <p14:sldId id="266"/>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5033" autoAdjust="0"/>
  </p:normalViewPr>
  <p:slideViewPr>
    <p:cSldViewPr snapToGrid="0" snapToObjects="1">
      <p:cViewPr varScale="1">
        <p:scale>
          <a:sx n="93" d="100"/>
          <a:sy n="93" d="100"/>
        </p:scale>
        <p:origin x="288" y="293"/>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0498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about 1 minute.
Open warm and personal. Something like: "Thank you for having me. [Your friend] asked if I'd come share a piece of something I've been working on for over twenty years. I want to tell you right up front: this started as notes to my kids and grandkids. I'm sharing it with you the same way — personally. Nothing formal. Nothing I'm trying to sell. A conversation between neighbors in Christ."
Name the scope: "Twenty minutes, five big ideas, one specific ask at the end. I'll stop and take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 OPENING — about 2-3 minutes.
Walk through the CSC vision naturally. Don't read the slide. The slide is the backdrop — you're telling a story.
Key beats: the season was real (detail makes it credible), the vision was unexpected, the meaning was clear, and — here's the move — knowing it on paper for years wasn't the same thing as being shown it. And being shown it wasn't the same thing as living it.
Land the closing line slowly: "I had believed that on paper for years. Being shown it is not the same as living it." That gap is the whole subject of this briefing.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 about 2 minutes.
James 1:22 is sharp — read it slowly. Then: most of us have more Bible in our heads than in our lives.
Don't make this a guilt trip — these are Reformed and Evangelical and Charismatic believers who love the Word. The point is NOT that they're failing. The point is that there's a structural gap between hearing and living, and we haven't had a good map for it.
Optional: "If you've ever read a verse on Sunday, been genuinely convicted, and then by Wednesday couldn't even remember which verse it was — that's what we're talking about. That's not moral weakness. That's missing a map."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SOWER AS DIAGNOSTIC — about 2 minutes.
Most of us were taught the Sower as evangelism: "are you saved? what kind of soil?" But Jesus calls it the key to understanding all the parables (Mark 4:13). That signals something bigger.
The Sower isn't a one-time salvation test. It's a diagnostic we keep running on every Word we encounter. The same seed falls on different soils in the SAME person at different times — and on different matters.
Ask the room (rhetorically, or genuinely): "On forgiveness, what's my soil right now? On generosity, what's my soil? On loving my enemies — be honest?"
The good soil is not a finish line. It's a posture — received, kept, endured. That endurance is what the five stages are going to unpack.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STAGES — about 2-3 minutes.
Introduce lightly: "In the 1960s, three education researchers — Krathwohl, Bloom, and Masia — noticed something. When ANY new idea or principle moves from outside you to becoming part of who you are, it goes through five stages. It's predictable. I'll name them in plain English."
Walk through the five briefly. Don't over-explain. Use one concrete example to anchor each — e.g., "like when my coach first told me to keep my eye on the ball, I heard it (Receiving), then I tried it once (Responding), then I started actually caring about it (Valuing)..."
The payoff: this structure is already in scripture. The five stages give us vocabulary for something God's people have experienced for three thousand years.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APPLIED TO HEARING AND OBEYING — about 3 minutes.
This is the core slide of the briefing. Take your time.
Go row by row. Read the verse, read the "what it looks like" line, give ONE personal example from your own life or a story you've witnessed. For instance, at Responding — James 1:22 — tell a specific story about the first time you did something you didn't want to do because the Word required it, and what it felt like.
Most important beat: the footer line. "A person can be at Stage 1 on one matter and Stage 4 on another." This is freeing. Nobody is at Stage 5 everywhere. The map is per-issue. That's why it's useful — it tells you where to focus, not where you rank.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FORGIVENESS — about 2-3 minutes.
Pick forgiveness because EVERYONE in the room has wrestled with it.
Walk through the five stages. The stories can be hypothetical ("imagine someone wronged you"), but more powerful if you can share one of your own briefly and with discretion.
The important move: notice how the stages are NOT about trying harder. They describe a trajectory that the Holy Spirit works in a receptive heart, across time, with community support. Stage 5 is not willpower — it's a transformed character.
If there's a teen in the room: make a short aside that Stage 1 is not failure and Stage 5 is not required today. The point is to notice where you are and take the next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YOUR GROUP — about 2 minutes.
This is where it gets practical. Deliver all five steps slowly.
Key emphases:
• "Something the group has been sitting with" — not a new passage every week. Stay with one long enough for movement to show up.
• "Which stage am I at, really?" — honesty is the whole game. A group that rounds up will learn nothing.
• "Where is the gap" — specificity. Not "I could love better" but "I haven't spoken to my brother since Christmas."
• "Pray there" — specific prayer, not general.
• "Come back and ask what moved" — this is the crucial discipline. Most of Bible study forgets to follow up. This doesn't.
Land the footer: "most of us cannot see our own stage clearly." That's why the community matters. This can't be done alone.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 about 1-2 minutes.
This slide is intentionally simple. Pause before you speak.
"I'm not asking you to adopt this. I'm not asking you to endorse it. I'm asking you to try it. Three meetings. One passage. The five-stage question. See what happens."
Then the honest frame: "This work is a draft. It's meant to be tested. Your group is exactly the kind of community that can tell me — us — whether this map holds up under real use. If it doesn't, I want to hear that. If it does, I want to hear that more."
Specifically name that you want to hear back — offer a way to report back (email, a follow-up visit, whatever).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 about 2-3 minutes including Q&amp;A invitation.
Read the family line first — "this started as notes to my kids." Land the personal framing one more time.
Then: "None of us is far along on every front. That's fine. The point is to notice where you are — and take the next step, with a community that will tell you the truth."
Quote Lewis: "Further up, and further in." Let it hang.
Offer the website for anyone who wants more. Offer to stay after for questions.
Optional benediction if the room will receive it: a simple prayer that the Lord would show each person present their one next step.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017520" cy="5143500"/>
          </a:xfrm>
          <a:prstGeom prst="rect">
            <a:avLst/>
          </a:prstGeom>
          <a:solidFill>
            <a:srgbClr val="2F5061"/>
          </a:solidFill>
          <a:ln w="12700">
            <a:solidFill>
              <a:srgbClr val="2F5061"/>
            </a:solidFill>
            <a:prstDash val="solid"/>
          </a:ln>
        </p:spPr>
        <p:txBody>
          <a:bodyPr/>
          <a:lstStyle/>
          <a:p>
            <a:endParaRPr lang="en-US"/>
          </a:p>
        </p:txBody>
      </p:sp>
      <p:sp>
        <p:nvSpPr>
          <p:cNvPr id="3" name="Shape 1"/>
          <p:cNvSpPr/>
          <p:nvPr/>
        </p:nvSpPr>
        <p:spPr>
          <a:xfrm>
            <a:off x="457200" y="4206240"/>
            <a:ext cx="731520" cy="36576"/>
          </a:xfrm>
          <a:prstGeom prst="rect">
            <a:avLst/>
          </a:prstGeom>
          <a:solidFill>
            <a:srgbClr val="C8981F"/>
          </a:solidFill>
          <a:ln w="12700">
            <a:solidFill>
              <a:srgbClr val="C8981F"/>
            </a:solidFill>
            <a:prstDash val="solid"/>
          </a:ln>
        </p:spPr>
        <p:txBody>
          <a:bodyPr/>
          <a:lstStyle/>
          <a:p>
            <a:endParaRPr lang="en-US"/>
          </a:p>
        </p:txBody>
      </p:sp>
      <p:sp>
        <p:nvSpPr>
          <p:cNvPr id="4" name="Text 2"/>
          <p:cNvSpPr/>
          <p:nvPr/>
        </p:nvSpPr>
        <p:spPr>
          <a:xfrm>
            <a:off x="457200" y="4343400"/>
            <a:ext cx="2377440" cy="274320"/>
          </a:xfrm>
          <a:prstGeom prst="rect">
            <a:avLst/>
          </a:prstGeom>
          <a:noFill/>
          <a:ln/>
        </p:spPr>
        <p:txBody>
          <a:bodyPr wrap="square" lIns="0" tIns="0" rIns="0" bIns="0" rtlCol="0" anchor="ctr"/>
          <a:lstStyle/>
          <a:p>
            <a:pPr marL="0" indent="0">
              <a:buNone/>
            </a:pPr>
            <a:r>
              <a:rPr lang="en-US" sz="900" b="1" kern="0" spc="300" dirty="0">
                <a:solidFill>
                  <a:srgbClr val="C8981F"/>
                </a:solidFill>
                <a:latin typeface="Calibri" pitchFamily="34" charset="0"/>
                <a:ea typeface="Calibri" pitchFamily="34" charset="-122"/>
                <a:cs typeface="Calibri" pitchFamily="34" charset="-120"/>
              </a:rPr>
              <a:t>NOTES TO MY KIDS (AND GRANDKIDS)</a:t>
            </a:r>
            <a:endParaRPr lang="en-US" sz="900" dirty="0"/>
          </a:p>
        </p:txBody>
      </p:sp>
      <p:sp>
        <p:nvSpPr>
          <p:cNvPr id="5" name="Text 3"/>
          <p:cNvSpPr/>
          <p:nvPr/>
        </p:nvSpPr>
        <p:spPr>
          <a:xfrm>
            <a:off x="457200" y="4617720"/>
            <a:ext cx="2377440" cy="365760"/>
          </a:xfrm>
          <a:prstGeom prst="rect">
            <a:avLst/>
          </a:prstGeom>
          <a:noFill/>
          <a:ln/>
        </p:spPr>
        <p:txBody>
          <a:bodyPr wrap="square" lIns="0" tIns="0" rIns="0" bIns="0" rtlCol="0" anchor="ctr"/>
          <a:lstStyle/>
          <a:p>
            <a:pPr marL="0" indent="0">
              <a:buNone/>
            </a:pPr>
            <a:r>
              <a:rPr lang="en-US" sz="1000" i="1" dirty="0">
                <a:solidFill>
                  <a:srgbClr val="D8D3C5"/>
                </a:solidFill>
                <a:latin typeface="Calibri" pitchFamily="34" charset="0"/>
                <a:ea typeface="Calibri" pitchFamily="34" charset="-122"/>
                <a:cs typeface="Calibri" pitchFamily="34" charset="-120"/>
              </a:rPr>
              <a:t>On my personal exploration of the Laws of God's Love</a:t>
            </a:r>
            <a:endParaRPr lang="en-US" sz="1000" dirty="0"/>
          </a:p>
        </p:txBody>
      </p:sp>
      <p:sp>
        <p:nvSpPr>
          <p:cNvPr id="6" name="Text 4"/>
          <p:cNvSpPr/>
          <p:nvPr/>
        </p:nvSpPr>
        <p:spPr>
          <a:xfrm>
            <a:off x="3474720" y="1188720"/>
            <a:ext cx="5394960" cy="2011680"/>
          </a:xfrm>
          <a:prstGeom prst="rect">
            <a:avLst/>
          </a:prstGeom>
          <a:noFill/>
          <a:ln/>
        </p:spPr>
        <p:txBody>
          <a:bodyPr wrap="square" lIns="0" tIns="0" rIns="0" bIns="0" rtlCol="0" anchor="ctr"/>
          <a:lstStyle/>
          <a:p>
            <a:pPr marL="0" indent="0">
              <a:buNone/>
            </a:pPr>
            <a:r>
              <a:rPr lang="en-US" sz="3600" b="1" dirty="0">
                <a:solidFill>
                  <a:srgbClr val="2F5061"/>
                </a:solidFill>
                <a:latin typeface="Georgia" pitchFamily="34" charset="0"/>
                <a:ea typeface="Georgia" pitchFamily="34" charset="-122"/>
                <a:cs typeface="Georgia" pitchFamily="34" charset="-120"/>
              </a:rPr>
              <a:t>The Intentional Journey of the Heart</a:t>
            </a:r>
            <a:endParaRPr lang="en-US" sz="3600" dirty="0"/>
          </a:p>
        </p:txBody>
      </p:sp>
      <p:sp>
        <p:nvSpPr>
          <p:cNvPr id="7" name="Text 5"/>
          <p:cNvSpPr/>
          <p:nvPr/>
        </p:nvSpPr>
        <p:spPr>
          <a:xfrm>
            <a:off x="3474720" y="3200400"/>
            <a:ext cx="5394960" cy="457200"/>
          </a:xfrm>
          <a:prstGeom prst="rect">
            <a:avLst/>
          </a:prstGeom>
          <a:noFill/>
          <a:ln/>
        </p:spPr>
        <p:txBody>
          <a:bodyPr wrap="square" lIns="0" tIns="0" rIns="0" bIns="0" rtlCol="0" anchor="ctr"/>
          <a:lstStyle/>
          <a:p>
            <a:pPr marL="0" indent="0">
              <a:buNone/>
            </a:pPr>
            <a:r>
              <a:rPr lang="en-US" sz="1800" i="1" dirty="0">
                <a:solidFill>
                  <a:srgbClr val="C8981F"/>
                </a:solidFill>
                <a:latin typeface="Georgia" pitchFamily="34" charset="0"/>
                <a:ea typeface="Georgia" pitchFamily="34" charset="-122"/>
                <a:cs typeface="Georgia" pitchFamily="34" charset="-120"/>
              </a:rPr>
              <a:t>Hearing and obeying God — a journey in stages</a:t>
            </a:r>
            <a:endParaRPr lang="en-US" sz="1800" dirty="0"/>
          </a:p>
        </p:txBody>
      </p:sp>
      <p:sp>
        <p:nvSpPr>
          <p:cNvPr id="8" name="Text 6"/>
          <p:cNvSpPr/>
          <p:nvPr/>
        </p:nvSpPr>
        <p:spPr>
          <a:xfrm>
            <a:off x="3474720" y="3840480"/>
            <a:ext cx="5394960" cy="731520"/>
          </a:xfrm>
          <a:prstGeom prst="rect">
            <a:avLst/>
          </a:prstGeom>
          <a:noFill/>
          <a:ln/>
        </p:spPr>
        <p:txBody>
          <a:bodyPr wrap="square" lIns="0" tIns="0" rIns="0" bIns="0" rtlCol="0" anchor="ctr"/>
          <a:lstStyle/>
          <a:p>
            <a:pPr marL="0" indent="0">
              <a:buNone/>
            </a:pPr>
            <a:r>
              <a:rPr lang="en-US" sz="1300" b="1" dirty="0">
                <a:solidFill>
                  <a:srgbClr val="2D3142"/>
                </a:solidFill>
                <a:latin typeface="Calibri" pitchFamily="34" charset="0"/>
                <a:ea typeface="Calibri" pitchFamily="34" charset="-122"/>
                <a:cs typeface="Calibri" pitchFamily="34" charset="-120"/>
              </a:rPr>
              <a:t>John G. Tittle</a:t>
            </a:r>
            <a:endParaRPr lang="en-US" sz="1300" dirty="0"/>
          </a:p>
          <a:p>
            <a:pPr marL="0" indent="0">
              <a:buNone/>
            </a:pPr>
            <a:r>
              <a:rPr lang="en-US" sz="1300" i="1" dirty="0">
                <a:solidFill>
                  <a:srgbClr val="7A8A9C"/>
                </a:solidFill>
                <a:latin typeface="Calibri" pitchFamily="34" charset="0"/>
                <a:ea typeface="Calibri" pitchFamily="34" charset="-122"/>
                <a:cs typeface="Calibri" pitchFamily="34" charset="-120"/>
              </a:rPr>
              <a:t>A briefing for a home church,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2800" b="1" dirty="0">
                <a:solidFill>
                  <a:srgbClr val="2F5061"/>
                </a:solidFill>
                <a:latin typeface="Georgia" pitchFamily="34" charset="0"/>
                <a:ea typeface="Georgia" pitchFamily="34" charset="-122"/>
                <a:cs typeface="Georgia" pitchFamily="34" charset="-120"/>
              </a:rPr>
              <a:t>A vision I was given, years ago</a:t>
            </a:r>
            <a:endParaRPr lang="en-US" sz="2800" dirty="0"/>
          </a:p>
        </p:txBody>
      </p:sp>
      <p:sp>
        <p:nvSpPr>
          <p:cNvPr id="3" name="Shape 1"/>
          <p:cNvSpPr/>
          <p:nvPr/>
        </p:nvSpPr>
        <p:spPr>
          <a:xfrm>
            <a:off x="457200" y="1188720"/>
            <a:ext cx="3291840" cy="3291840"/>
          </a:xfrm>
          <a:prstGeom prst="rect">
            <a:avLst/>
          </a:prstGeom>
          <a:solidFill>
            <a:srgbClr val="F5F1EA"/>
          </a:solidFill>
          <a:ln w="12700">
            <a:solidFill>
              <a:srgbClr val="7A8A9C"/>
            </a:solidFill>
            <a:prstDash val="dash"/>
          </a:ln>
        </p:spPr>
        <p:txBody>
          <a:bodyPr/>
          <a:lstStyle/>
          <a:p>
            <a:endParaRPr lang="en-US"/>
          </a:p>
        </p:txBody>
      </p:sp>
      <p:sp>
        <p:nvSpPr>
          <p:cNvPr id="4" name="Text 2"/>
          <p:cNvSpPr/>
          <p:nvPr/>
        </p:nvSpPr>
        <p:spPr>
          <a:xfrm>
            <a:off x="457200" y="2670048"/>
            <a:ext cx="3291840" cy="329184"/>
          </a:xfrm>
          <a:prstGeom prst="rect">
            <a:avLst/>
          </a:prstGeom>
          <a:noFill/>
          <a:ln/>
        </p:spPr>
        <p:txBody>
          <a:bodyPr wrap="square" rtlCol="0" anchor="ctr"/>
          <a:lstStyle/>
          <a:p>
            <a:pPr marL="0" indent="0" algn="ctr">
              <a:buNone/>
            </a:pPr>
            <a:r>
              <a:rPr lang="en-US" sz="1100" i="1" dirty="0">
                <a:solidFill>
                  <a:srgbClr val="7A8A9C"/>
                </a:solidFill>
                <a:latin typeface="Calibri" pitchFamily="34" charset="0"/>
                <a:ea typeface="Calibri" pitchFamily="34" charset="-122"/>
                <a:cs typeface="Calibri" pitchFamily="34" charset="-120"/>
              </a:rPr>
              <a:t>Personal photo from the CSC years</a:t>
            </a:r>
            <a:endParaRPr lang="en-US" sz="1100" dirty="0"/>
          </a:p>
          <a:p>
            <a:pPr marL="0" indent="0" algn="ctr">
              <a:buNone/>
            </a:pPr>
            <a:r>
              <a:rPr lang="en-US" sz="1100" i="1" dirty="0">
                <a:solidFill>
                  <a:srgbClr val="7A8A9C"/>
                </a:solidFill>
                <a:latin typeface="Calibri" pitchFamily="34" charset="0"/>
                <a:ea typeface="Calibri" pitchFamily="34" charset="-122"/>
                <a:cs typeface="Calibri" pitchFamily="34" charset="-120"/>
              </a:rPr>
              <a:t>(swap in)</a:t>
            </a:r>
            <a:endParaRPr lang="en-US" sz="1100" dirty="0"/>
          </a:p>
        </p:txBody>
      </p:sp>
      <p:sp>
        <p:nvSpPr>
          <p:cNvPr id="5" name="Text 3"/>
          <p:cNvSpPr/>
          <p:nvPr/>
        </p:nvSpPr>
        <p:spPr>
          <a:xfrm>
            <a:off x="4114800" y="1188720"/>
            <a:ext cx="4754880" cy="3291840"/>
          </a:xfrm>
          <a:prstGeom prst="rect">
            <a:avLst/>
          </a:prstGeom>
          <a:noFill/>
          <a:ln/>
        </p:spPr>
        <p:txBody>
          <a:bodyPr wrap="square" lIns="0" tIns="0" rIns="0" bIns="0" rtlCol="0" anchor="t"/>
          <a:lstStyle/>
          <a:p>
            <a:pPr marL="0" indent="0">
              <a:buNone/>
            </a:pPr>
            <a:r>
              <a:rPr lang="en-US" sz="1400" dirty="0">
                <a:solidFill>
                  <a:srgbClr val="2D3142"/>
                </a:solidFill>
                <a:latin typeface="Calibri" pitchFamily="34" charset="0"/>
                <a:ea typeface="Calibri" pitchFamily="34" charset="-122"/>
                <a:cs typeface="Calibri" pitchFamily="34" charset="-120"/>
              </a:rPr>
              <a:t>I was underwater with details at work. One morning, complaining to the Lord about the drudgery, I had a flash vision.</a:t>
            </a:r>
            <a:endParaRPr lang="en-US" sz="1400" dirty="0"/>
          </a:p>
          <a:p>
            <a:pPr marL="0" indent="0">
              <a:buNone/>
            </a:pPr>
            <a:r>
              <a:rPr lang="en-US" sz="800" dirty="0">
                <a:solidFill>
                  <a:srgbClr val="2D3142"/>
                </a:solidFill>
                <a:latin typeface="Calibri" pitchFamily="34" charset="0"/>
                <a:ea typeface="Calibri" pitchFamily="34" charset="-122"/>
                <a:cs typeface="Calibri" pitchFamily="34" charset="-120"/>
              </a:rPr>
              <a:t> </a:t>
            </a:r>
            <a:endParaRPr lang="en-US" sz="1400" dirty="0"/>
          </a:p>
          <a:p>
            <a:pPr marL="0" indent="0">
              <a:buNone/>
            </a:pPr>
            <a:r>
              <a:rPr lang="en-US" sz="1400" dirty="0">
                <a:solidFill>
                  <a:srgbClr val="2D3142"/>
                </a:solidFill>
                <a:latin typeface="Calibri" pitchFamily="34" charset="0"/>
                <a:ea typeface="Calibri" pitchFamily="34" charset="-122"/>
                <a:cs typeface="Calibri" pitchFamily="34" charset="-120"/>
              </a:rPr>
              <a:t>I saw myself at my desk, typing an email, tempted to write </a:t>
            </a:r>
            <a:r>
              <a:rPr lang="en-US" sz="1400" i="1" dirty="0">
                <a:solidFill>
                  <a:srgbClr val="2D3142"/>
                </a:solidFill>
                <a:latin typeface="Calibri" pitchFamily="34" charset="0"/>
                <a:ea typeface="Calibri" pitchFamily="34" charset="-122"/>
                <a:cs typeface="Calibri" pitchFamily="34" charset="-120"/>
              </a:rPr>
              <a:t>"you idiot!"</a:t>
            </a:r>
            <a:r>
              <a:rPr lang="en-US" sz="1400" dirty="0">
                <a:solidFill>
                  <a:srgbClr val="2D3142"/>
                </a:solidFill>
                <a:latin typeface="Calibri" pitchFamily="34" charset="0"/>
                <a:ea typeface="Calibri" pitchFamily="34" charset="-122"/>
                <a:cs typeface="Calibri" pitchFamily="34" charset="-120"/>
              </a:rPr>
              <a:t> to someone who had frustrated me.</a:t>
            </a:r>
            <a:endParaRPr lang="en-US" sz="1400" dirty="0"/>
          </a:p>
          <a:p>
            <a:pPr marL="0" indent="0">
              <a:buNone/>
            </a:pPr>
            <a:r>
              <a:rPr lang="en-US" sz="800" dirty="0">
                <a:solidFill>
                  <a:srgbClr val="2D3142"/>
                </a:solidFill>
                <a:latin typeface="Calibri" pitchFamily="34" charset="0"/>
                <a:ea typeface="Calibri" pitchFamily="34" charset="-122"/>
                <a:cs typeface="Calibri" pitchFamily="34" charset="-120"/>
              </a:rPr>
              <a:t> </a:t>
            </a:r>
            <a:endParaRPr lang="en-US" sz="1400" dirty="0"/>
          </a:p>
          <a:p>
            <a:pPr marL="0" indent="0">
              <a:buNone/>
            </a:pPr>
            <a:r>
              <a:rPr lang="en-US" sz="1400" dirty="0">
                <a:solidFill>
                  <a:srgbClr val="2D3142"/>
                </a:solidFill>
                <a:latin typeface="Calibri" pitchFamily="34" charset="0"/>
                <a:ea typeface="Calibri" pitchFamily="34" charset="-122"/>
                <a:cs typeface="Calibri" pitchFamily="34" charset="-120"/>
              </a:rPr>
              <a:t>Superimposed over that same me was another me — in priestly robes, arms raised, worshipping. Same desk. Same moment.</a:t>
            </a:r>
            <a:endParaRPr lang="en-US" sz="1400" dirty="0"/>
          </a:p>
          <a:p>
            <a:pPr marL="0" indent="0">
              <a:buNone/>
            </a:pPr>
            <a:r>
              <a:rPr lang="en-US" sz="800" dirty="0">
                <a:solidFill>
                  <a:srgbClr val="2D3142"/>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2F5061"/>
                </a:solidFill>
                <a:latin typeface="Calibri" pitchFamily="34" charset="0"/>
                <a:ea typeface="Calibri" pitchFamily="34" charset="-122"/>
                <a:cs typeface="Calibri" pitchFamily="34" charset="-120"/>
              </a:rPr>
              <a:t>What I did, and how I did it, was always holy unto the Lord.</a:t>
            </a:r>
            <a:endParaRPr lang="en-US" sz="1400" dirty="0"/>
          </a:p>
        </p:txBody>
      </p:sp>
      <p:sp>
        <p:nvSpPr>
          <p:cNvPr id="6" name="Text 4"/>
          <p:cNvSpPr/>
          <p:nvPr/>
        </p:nvSpPr>
        <p:spPr>
          <a:xfrm>
            <a:off x="457200" y="4617720"/>
            <a:ext cx="8229600" cy="365760"/>
          </a:xfrm>
          <a:prstGeom prst="rect">
            <a:avLst/>
          </a:prstGeom>
          <a:noFill/>
          <a:ln/>
        </p:spPr>
        <p:txBody>
          <a:bodyPr wrap="square" lIns="0" tIns="0" rIns="0" bIns="0" rtlCol="0" anchor="ctr"/>
          <a:lstStyle/>
          <a:p>
            <a:pPr marL="0" indent="0" algn="ctr">
              <a:buNone/>
            </a:pPr>
            <a:r>
              <a:rPr lang="en-US" sz="1300" i="1" dirty="0">
                <a:solidFill>
                  <a:srgbClr val="C8981F"/>
                </a:solidFill>
                <a:latin typeface="Georgia" pitchFamily="34" charset="0"/>
                <a:ea typeface="Georgia" pitchFamily="34" charset="-122"/>
                <a:cs typeface="Georgia" pitchFamily="34" charset="-120"/>
              </a:rPr>
              <a:t>I had believed that on paper for years. Being shown it is not the same as living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E41A1B-8D98-7514-68AF-2C730388495D}"/>
              </a:ext>
            </a:extLst>
          </p:cNvPr>
          <p:cNvSpPr txBox="1"/>
          <p:nvPr/>
        </p:nvSpPr>
        <p:spPr>
          <a:xfrm>
            <a:off x="2286000" y="667717"/>
            <a:ext cx="4572000" cy="3416320"/>
          </a:xfrm>
          <a:prstGeom prst="rect">
            <a:avLst/>
          </a:prstGeom>
          <a:noFill/>
        </p:spPr>
        <p:txBody>
          <a:bodyPr wrap="square">
            <a:spAutoFit/>
          </a:bodyPr>
          <a:lstStyle/>
          <a:p>
            <a:pPr marL="228600" marR="0" algn="just">
              <a:spcBef>
                <a:spcPts val="1000"/>
              </a:spcBef>
              <a:spcAft>
                <a:spcPts val="1000"/>
              </a:spcAft>
              <a:buNone/>
            </a:pPr>
            <a:r>
              <a:rPr lang="en-US" sz="1800" b="1" dirty="0">
                <a:effectLst/>
                <a:latin typeface="Georgia" panose="02040502050405020303" pitchFamily="18" charset="0"/>
                <a:ea typeface="Georgia" panose="02040502050405020303" pitchFamily="18" charset="0"/>
                <a:cs typeface="Georgia" panose="02040502050405020303" pitchFamily="18" charset="0"/>
              </a:rPr>
              <a:t>Proposed Law: The natural world is a proper subset of God's larger spiritual reality, his kingdom. Miracles are not violations of natural law — they are instances of a higher-order law operating on the natural world from a superset of dimensions. The closer a person operates in alignment with the higher-order laws, the more "miraculous" results will appear from within the natural frame.</a:t>
            </a:r>
            <a:endParaRPr lang="en-US" sz="1800" dirty="0">
              <a:effectLst/>
              <a:latin typeface="Georgia" panose="02040502050405020303" pitchFamily="18" charset="0"/>
              <a:ea typeface="Georgia" panose="02040502050405020303" pitchFamily="18" charset="0"/>
              <a:cs typeface="Georgia" panose="02040502050405020303" pitchFamily="18" charset="0"/>
            </a:endParaRPr>
          </a:p>
        </p:txBody>
      </p:sp>
    </p:spTree>
    <p:extLst>
      <p:ext uri="{BB962C8B-B14F-4D97-AF65-F5344CB8AC3E}">
        <p14:creationId xmlns:p14="http://schemas.microsoft.com/office/powerpoint/2010/main" val="2990950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2800" b="1" dirty="0">
                <a:solidFill>
                  <a:srgbClr val="2F5061"/>
                </a:solidFill>
                <a:latin typeface="Georgia" pitchFamily="34" charset="0"/>
                <a:ea typeface="Georgia" pitchFamily="34" charset="-122"/>
                <a:cs typeface="Georgia" pitchFamily="34" charset="-120"/>
              </a:rPr>
              <a:t>The gap we do not have a map for</a:t>
            </a:r>
            <a:endParaRPr lang="en-US" sz="2800" dirty="0"/>
          </a:p>
        </p:txBody>
      </p:sp>
      <p:sp>
        <p:nvSpPr>
          <p:cNvPr id="3" name="Shape 1"/>
          <p:cNvSpPr/>
          <p:nvPr/>
        </p:nvSpPr>
        <p:spPr>
          <a:xfrm>
            <a:off x="1371600" y="1280160"/>
            <a:ext cx="6400800" cy="1463040"/>
          </a:xfrm>
          <a:prstGeom prst="rect">
            <a:avLst/>
          </a:prstGeom>
          <a:solidFill>
            <a:srgbClr val="F5F1EA"/>
          </a:solidFill>
          <a:ln w="12700">
            <a:solidFill>
              <a:srgbClr val="7FA49A"/>
            </a:solidFill>
            <a:prstDash val="solid"/>
          </a:ln>
        </p:spPr>
        <p:txBody>
          <a:bodyPr/>
          <a:lstStyle/>
          <a:p>
            <a:endParaRPr lang="en-US"/>
          </a:p>
        </p:txBody>
      </p:sp>
      <p:sp>
        <p:nvSpPr>
          <p:cNvPr id="4" name="Shape 2"/>
          <p:cNvSpPr/>
          <p:nvPr/>
        </p:nvSpPr>
        <p:spPr>
          <a:xfrm>
            <a:off x="1371600" y="1280160"/>
            <a:ext cx="54864" cy="1463040"/>
          </a:xfrm>
          <a:prstGeom prst="rect">
            <a:avLst/>
          </a:prstGeom>
          <a:solidFill>
            <a:srgbClr val="7FA49A"/>
          </a:solidFill>
          <a:ln w="12700">
            <a:solidFill>
              <a:srgbClr val="7FA49A"/>
            </a:solidFill>
            <a:prstDash val="solid"/>
          </a:ln>
        </p:spPr>
        <p:txBody>
          <a:bodyPr/>
          <a:lstStyle/>
          <a:p>
            <a:endParaRPr lang="en-US"/>
          </a:p>
        </p:txBody>
      </p:sp>
      <p:sp>
        <p:nvSpPr>
          <p:cNvPr id="5" name="Text 3"/>
          <p:cNvSpPr/>
          <p:nvPr/>
        </p:nvSpPr>
        <p:spPr>
          <a:xfrm>
            <a:off x="1645920" y="1417320"/>
            <a:ext cx="5943600" cy="822960"/>
          </a:xfrm>
          <a:prstGeom prst="rect">
            <a:avLst/>
          </a:prstGeom>
          <a:noFill/>
          <a:ln/>
        </p:spPr>
        <p:txBody>
          <a:bodyPr wrap="square" lIns="0" tIns="0" rIns="0" bIns="0" rtlCol="0" anchor="ctr"/>
          <a:lstStyle/>
          <a:p>
            <a:pPr marL="0" indent="0">
              <a:buNone/>
            </a:pPr>
            <a:r>
              <a:rPr lang="en-US" sz="2000" i="1" dirty="0">
                <a:solidFill>
                  <a:srgbClr val="2F5061"/>
                </a:solidFill>
                <a:latin typeface="Georgia" pitchFamily="34" charset="0"/>
                <a:ea typeface="Georgia" pitchFamily="34" charset="-122"/>
                <a:cs typeface="Georgia" pitchFamily="34" charset="-120"/>
              </a:rPr>
              <a:t>"Be doers of the word, and not hearers only,</a:t>
            </a:r>
            <a:endParaRPr lang="en-US" sz="2000" dirty="0"/>
          </a:p>
          <a:p>
            <a:pPr marL="0" indent="0">
              <a:buNone/>
            </a:pPr>
            <a:r>
              <a:rPr lang="en-US" sz="2000" i="1" dirty="0">
                <a:solidFill>
                  <a:srgbClr val="2F5061"/>
                </a:solidFill>
                <a:latin typeface="Georgia" pitchFamily="34" charset="0"/>
                <a:ea typeface="Georgia" pitchFamily="34" charset="-122"/>
                <a:cs typeface="Georgia" pitchFamily="34" charset="-120"/>
              </a:rPr>
              <a:t>deceiving yourselves."</a:t>
            </a:r>
            <a:endParaRPr lang="en-US" sz="2000" dirty="0"/>
          </a:p>
        </p:txBody>
      </p:sp>
      <p:sp>
        <p:nvSpPr>
          <p:cNvPr id="6" name="Text 4"/>
          <p:cNvSpPr/>
          <p:nvPr/>
        </p:nvSpPr>
        <p:spPr>
          <a:xfrm>
            <a:off x="1645920" y="2286000"/>
            <a:ext cx="5943600" cy="320040"/>
          </a:xfrm>
          <a:prstGeom prst="rect">
            <a:avLst/>
          </a:prstGeom>
          <a:noFill/>
          <a:ln/>
        </p:spPr>
        <p:txBody>
          <a:bodyPr wrap="square" lIns="0" tIns="0" rIns="0" bIns="0" rtlCol="0" anchor="ctr"/>
          <a:lstStyle/>
          <a:p>
            <a:pPr marL="0" indent="0">
              <a:buNone/>
            </a:pPr>
            <a:r>
              <a:rPr lang="en-US" sz="1100" b="1" kern="0" spc="200" dirty="0">
                <a:solidFill>
                  <a:srgbClr val="7A8A9C"/>
                </a:solidFill>
                <a:latin typeface="Calibri" pitchFamily="34" charset="0"/>
                <a:ea typeface="Calibri" pitchFamily="34" charset="-122"/>
                <a:cs typeface="Calibri" pitchFamily="34" charset="-120"/>
              </a:rPr>
              <a:t>James 1:22</a:t>
            </a:r>
            <a:endParaRPr lang="en-US" sz="1100" dirty="0"/>
          </a:p>
        </p:txBody>
      </p:sp>
      <p:sp>
        <p:nvSpPr>
          <p:cNvPr id="7" name="Text 5"/>
          <p:cNvSpPr/>
          <p:nvPr/>
        </p:nvSpPr>
        <p:spPr>
          <a:xfrm>
            <a:off x="914400" y="3108960"/>
            <a:ext cx="7315200" cy="1645920"/>
          </a:xfrm>
          <a:prstGeom prst="rect">
            <a:avLst/>
          </a:prstGeom>
          <a:noFill/>
          <a:ln/>
        </p:spPr>
        <p:txBody>
          <a:bodyPr wrap="square" lIns="0" tIns="0" rIns="0" bIns="0" rtlCol="0" anchor="t"/>
          <a:lstStyle/>
          <a:p>
            <a:pPr marL="0" indent="0" algn="ctr">
              <a:buNone/>
            </a:pPr>
            <a:r>
              <a:rPr lang="en-US" sz="1500" b="1" dirty="0">
                <a:solidFill>
                  <a:srgbClr val="2F5061"/>
                </a:solidFill>
                <a:latin typeface="Calibri" pitchFamily="34" charset="0"/>
                <a:ea typeface="Calibri" pitchFamily="34" charset="-122"/>
                <a:cs typeface="Calibri" pitchFamily="34" charset="-120"/>
              </a:rPr>
              <a:t>Most of us have more Bible in our heads than in our lives.</a:t>
            </a:r>
            <a:endParaRPr lang="en-US" sz="1500" dirty="0"/>
          </a:p>
          <a:p>
            <a:pPr marL="0" indent="0" algn="ctr">
              <a:buNone/>
            </a:pPr>
            <a:r>
              <a:rPr lang="en-US" sz="800" dirty="0">
                <a:solidFill>
                  <a:srgbClr val="2D3142"/>
                </a:solidFill>
                <a:latin typeface="Calibri" pitchFamily="34" charset="0"/>
                <a:ea typeface="Calibri" pitchFamily="34" charset="-122"/>
                <a:cs typeface="Calibri" pitchFamily="34" charset="-120"/>
              </a:rPr>
              <a:t> </a:t>
            </a:r>
            <a:endParaRPr lang="en-US" sz="1500" dirty="0"/>
          </a:p>
          <a:p>
            <a:pPr marL="0" indent="0" algn="ctr">
              <a:buNone/>
            </a:pPr>
            <a:r>
              <a:rPr lang="en-US" sz="1500" dirty="0">
                <a:solidFill>
                  <a:srgbClr val="2D3142"/>
                </a:solidFill>
                <a:latin typeface="Calibri" pitchFamily="34" charset="0"/>
                <a:ea typeface="Calibri" pitchFamily="34" charset="-122"/>
                <a:cs typeface="Calibri" pitchFamily="34" charset="-120"/>
              </a:rPr>
              <a:t>That is not a moral failure. It is a structural one. We do not have a map for the distance between knowing a truth and living it — so when we get stuck in the middle, we cannot tell whether we are stuck or making progress.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2600" b="1" dirty="0">
                <a:solidFill>
                  <a:srgbClr val="2F5061"/>
                </a:solidFill>
                <a:latin typeface="Georgia" pitchFamily="34" charset="0"/>
                <a:ea typeface="Georgia" pitchFamily="34" charset="-122"/>
                <a:cs typeface="Georgia" pitchFamily="34" charset="-120"/>
              </a:rPr>
              <a:t>The Sower is a diagnostic, not just an altar call</a:t>
            </a:r>
            <a:endParaRPr lang="en-US" sz="2600" dirty="0"/>
          </a:p>
        </p:txBody>
      </p:sp>
      <p:sp>
        <p:nvSpPr>
          <p:cNvPr id="3" name="Text 1"/>
          <p:cNvSpPr/>
          <p:nvPr/>
        </p:nvSpPr>
        <p:spPr>
          <a:xfrm>
            <a:off x="457200" y="960120"/>
            <a:ext cx="8229600" cy="320040"/>
          </a:xfrm>
          <a:prstGeom prst="rect">
            <a:avLst/>
          </a:prstGeom>
          <a:noFill/>
          <a:ln/>
        </p:spPr>
        <p:txBody>
          <a:bodyPr wrap="square" lIns="0" tIns="0" rIns="0" bIns="0" rtlCol="0" anchor="ctr"/>
          <a:lstStyle/>
          <a:p>
            <a:pPr marL="0" indent="0">
              <a:buNone/>
            </a:pPr>
            <a:r>
              <a:rPr lang="en-US" sz="1200" i="1" dirty="0">
                <a:solidFill>
                  <a:srgbClr val="7A8A9C"/>
                </a:solidFill>
                <a:latin typeface="Calibri" pitchFamily="34" charset="0"/>
                <a:ea typeface="Calibri" pitchFamily="34" charset="-122"/>
                <a:cs typeface="Calibri" pitchFamily="34" charset="-120"/>
              </a:rPr>
              <a:t>"Do you not understand this parable? How then will you understand all the parables?" — Mark 4:13</a:t>
            </a:r>
            <a:endParaRPr lang="en-US" sz="1200" dirty="0"/>
          </a:p>
        </p:txBody>
      </p:sp>
      <p:sp>
        <p:nvSpPr>
          <p:cNvPr id="4" name="Shape 2"/>
          <p:cNvSpPr/>
          <p:nvPr/>
        </p:nvSpPr>
        <p:spPr>
          <a:xfrm>
            <a:off x="617220" y="1691640"/>
            <a:ext cx="1874520" cy="2377440"/>
          </a:xfrm>
          <a:prstGeom prst="rect">
            <a:avLst/>
          </a:prstGeom>
          <a:solidFill>
            <a:srgbClr val="B89B7A">
              <a:alpha val="50000"/>
            </a:srgbClr>
          </a:solidFill>
          <a:ln w="12700">
            <a:solidFill>
              <a:srgbClr val="B89B7A"/>
            </a:solidFill>
            <a:prstDash val="solid"/>
          </a:ln>
        </p:spPr>
        <p:txBody>
          <a:bodyPr/>
          <a:lstStyle/>
          <a:p>
            <a:endParaRPr lang="en-US"/>
          </a:p>
        </p:txBody>
      </p:sp>
      <p:sp>
        <p:nvSpPr>
          <p:cNvPr id="5" name="Text 3"/>
          <p:cNvSpPr/>
          <p:nvPr/>
        </p:nvSpPr>
        <p:spPr>
          <a:xfrm>
            <a:off x="754380" y="1828800"/>
            <a:ext cx="457200" cy="365760"/>
          </a:xfrm>
          <a:prstGeom prst="rect">
            <a:avLst/>
          </a:prstGeom>
          <a:noFill/>
          <a:ln/>
        </p:spPr>
        <p:txBody>
          <a:bodyPr wrap="square" lIns="0" tIns="0" rIns="0" bIns="0" rtlCol="0" anchor="ctr"/>
          <a:lstStyle/>
          <a:p>
            <a:pPr marL="0" indent="0">
              <a:buNone/>
            </a:pPr>
            <a:r>
              <a:rPr lang="en-US" sz="1800" b="1" dirty="0">
                <a:solidFill>
                  <a:srgbClr val="2D3142"/>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617220" y="2286000"/>
            <a:ext cx="1874520" cy="457200"/>
          </a:xfrm>
          <a:prstGeom prst="rect">
            <a:avLst/>
          </a:prstGeom>
          <a:noFill/>
          <a:ln/>
        </p:spPr>
        <p:txBody>
          <a:bodyPr wrap="square" lIns="0" tIns="0" rIns="0" bIns="0" rtlCol="0" anchor="ctr"/>
          <a:lstStyle/>
          <a:p>
            <a:pPr marL="0" indent="0" algn="ctr">
              <a:buNone/>
            </a:pPr>
            <a:r>
              <a:rPr lang="en-US" sz="1800" b="1" dirty="0">
                <a:solidFill>
                  <a:srgbClr val="2F5061"/>
                </a:solidFill>
                <a:latin typeface="Georgia" pitchFamily="34" charset="0"/>
                <a:ea typeface="Georgia" pitchFamily="34" charset="-122"/>
                <a:cs typeface="Georgia" pitchFamily="34" charset="-120"/>
              </a:rPr>
              <a:t>Path</a:t>
            </a:r>
            <a:endParaRPr lang="en-US" sz="1800" dirty="0"/>
          </a:p>
        </p:txBody>
      </p:sp>
      <p:sp>
        <p:nvSpPr>
          <p:cNvPr id="7" name="Text 5"/>
          <p:cNvSpPr/>
          <p:nvPr/>
        </p:nvSpPr>
        <p:spPr>
          <a:xfrm>
            <a:off x="754380" y="2834640"/>
            <a:ext cx="1600200" cy="1097280"/>
          </a:xfrm>
          <a:prstGeom prst="rect">
            <a:avLst/>
          </a:prstGeom>
          <a:noFill/>
          <a:ln/>
        </p:spPr>
        <p:txBody>
          <a:bodyPr wrap="square" lIns="0" tIns="0" rIns="0" bIns="0" rtlCol="0" anchor="t"/>
          <a:lstStyle/>
          <a:p>
            <a:pPr marL="0" indent="0" algn="ctr">
              <a:buNone/>
            </a:pPr>
            <a:r>
              <a:rPr lang="en-US" sz="1200" dirty="0">
                <a:solidFill>
                  <a:srgbClr val="2D3142"/>
                </a:solidFill>
                <a:latin typeface="Calibri" pitchFamily="34" charset="0"/>
                <a:ea typeface="Calibri" pitchFamily="34" charset="-122"/>
                <a:cs typeface="Calibri" pitchFamily="34" charset="-120"/>
              </a:rPr>
              <a:t>Word never takes root.</a:t>
            </a:r>
            <a:endParaRPr lang="en-US" sz="1200" dirty="0"/>
          </a:p>
          <a:p>
            <a:pPr marL="0" indent="0" algn="ctr">
              <a:buNone/>
            </a:pPr>
            <a:r>
              <a:rPr lang="en-US" sz="1200" dirty="0">
                <a:solidFill>
                  <a:srgbClr val="2D3142"/>
                </a:solidFill>
                <a:latin typeface="Calibri" pitchFamily="34" charset="0"/>
                <a:ea typeface="Calibri" pitchFamily="34" charset="-122"/>
                <a:cs typeface="Calibri" pitchFamily="34" charset="-120"/>
              </a:rPr>
              <a:t>Birds take it away.</a:t>
            </a:r>
            <a:endParaRPr lang="en-US" sz="1200" dirty="0"/>
          </a:p>
        </p:txBody>
      </p:sp>
      <p:sp>
        <p:nvSpPr>
          <p:cNvPr id="8" name="Shape 6"/>
          <p:cNvSpPr/>
          <p:nvPr/>
        </p:nvSpPr>
        <p:spPr>
          <a:xfrm>
            <a:off x="2628900" y="1691640"/>
            <a:ext cx="1874520" cy="2377440"/>
          </a:xfrm>
          <a:prstGeom prst="rect">
            <a:avLst/>
          </a:prstGeom>
          <a:solidFill>
            <a:srgbClr val="A48A6E">
              <a:alpha val="50000"/>
            </a:srgbClr>
          </a:solidFill>
          <a:ln w="12700">
            <a:solidFill>
              <a:srgbClr val="A48A6E"/>
            </a:solidFill>
            <a:prstDash val="solid"/>
          </a:ln>
        </p:spPr>
        <p:txBody>
          <a:bodyPr/>
          <a:lstStyle/>
          <a:p>
            <a:endParaRPr lang="en-US"/>
          </a:p>
        </p:txBody>
      </p:sp>
      <p:sp>
        <p:nvSpPr>
          <p:cNvPr id="9" name="Text 7"/>
          <p:cNvSpPr/>
          <p:nvPr/>
        </p:nvSpPr>
        <p:spPr>
          <a:xfrm>
            <a:off x="2766060" y="1828800"/>
            <a:ext cx="457200" cy="365760"/>
          </a:xfrm>
          <a:prstGeom prst="rect">
            <a:avLst/>
          </a:prstGeom>
          <a:noFill/>
          <a:ln/>
        </p:spPr>
        <p:txBody>
          <a:bodyPr wrap="square" lIns="0" tIns="0" rIns="0" bIns="0" rtlCol="0" anchor="ctr"/>
          <a:lstStyle/>
          <a:p>
            <a:pPr marL="0" indent="0">
              <a:buNone/>
            </a:pPr>
            <a:r>
              <a:rPr lang="en-US" sz="1800" b="1" dirty="0">
                <a:solidFill>
                  <a:srgbClr val="2D3142"/>
                </a:solidFill>
                <a:latin typeface="Georgia" pitchFamily="34" charset="0"/>
                <a:ea typeface="Georgia" pitchFamily="34" charset="-122"/>
                <a:cs typeface="Georgia" pitchFamily="34" charset="-120"/>
              </a:rPr>
              <a:t>2</a:t>
            </a:r>
            <a:endParaRPr lang="en-US" sz="1800" dirty="0"/>
          </a:p>
        </p:txBody>
      </p:sp>
      <p:sp>
        <p:nvSpPr>
          <p:cNvPr id="10" name="Text 8"/>
          <p:cNvSpPr/>
          <p:nvPr/>
        </p:nvSpPr>
        <p:spPr>
          <a:xfrm>
            <a:off x="2628900" y="2286000"/>
            <a:ext cx="1874520" cy="457200"/>
          </a:xfrm>
          <a:prstGeom prst="rect">
            <a:avLst/>
          </a:prstGeom>
          <a:noFill/>
          <a:ln/>
        </p:spPr>
        <p:txBody>
          <a:bodyPr wrap="square" lIns="0" tIns="0" rIns="0" bIns="0" rtlCol="0" anchor="ctr"/>
          <a:lstStyle/>
          <a:p>
            <a:pPr marL="0" indent="0" algn="ctr">
              <a:buNone/>
            </a:pPr>
            <a:r>
              <a:rPr lang="en-US" sz="1800" b="1" dirty="0">
                <a:solidFill>
                  <a:srgbClr val="2F5061"/>
                </a:solidFill>
                <a:latin typeface="Georgia" pitchFamily="34" charset="0"/>
                <a:ea typeface="Georgia" pitchFamily="34" charset="-122"/>
                <a:cs typeface="Georgia" pitchFamily="34" charset="-120"/>
              </a:rPr>
              <a:t>Rocky</a:t>
            </a:r>
            <a:endParaRPr lang="en-US" sz="1800" dirty="0"/>
          </a:p>
        </p:txBody>
      </p:sp>
      <p:sp>
        <p:nvSpPr>
          <p:cNvPr id="11" name="Text 9"/>
          <p:cNvSpPr/>
          <p:nvPr/>
        </p:nvSpPr>
        <p:spPr>
          <a:xfrm>
            <a:off x="2766060" y="2834640"/>
            <a:ext cx="1600200" cy="1097280"/>
          </a:xfrm>
          <a:prstGeom prst="rect">
            <a:avLst/>
          </a:prstGeom>
          <a:noFill/>
          <a:ln/>
        </p:spPr>
        <p:txBody>
          <a:bodyPr wrap="square" lIns="0" tIns="0" rIns="0" bIns="0" rtlCol="0" anchor="t"/>
          <a:lstStyle/>
          <a:p>
            <a:pPr marL="0" indent="0" algn="ctr">
              <a:buNone/>
            </a:pPr>
            <a:r>
              <a:rPr lang="en-US" sz="1200" dirty="0">
                <a:solidFill>
                  <a:srgbClr val="2D3142"/>
                </a:solidFill>
                <a:latin typeface="Calibri" pitchFamily="34" charset="0"/>
                <a:ea typeface="Calibri" pitchFamily="34" charset="-122"/>
                <a:cs typeface="Calibri" pitchFamily="34" charset="-120"/>
              </a:rPr>
              <a:t>Received with joy,</a:t>
            </a:r>
            <a:endParaRPr lang="en-US" sz="1200" dirty="0"/>
          </a:p>
          <a:p>
            <a:pPr marL="0" indent="0" algn="ctr">
              <a:buNone/>
            </a:pPr>
            <a:r>
              <a:rPr lang="en-US" sz="1200" dirty="0">
                <a:solidFill>
                  <a:srgbClr val="2D3142"/>
                </a:solidFill>
                <a:latin typeface="Calibri" pitchFamily="34" charset="0"/>
                <a:ea typeface="Calibri" pitchFamily="34" charset="-122"/>
                <a:cs typeface="Calibri" pitchFamily="34" charset="-120"/>
              </a:rPr>
              <a:t>no root, withers.</a:t>
            </a:r>
            <a:endParaRPr lang="en-US" sz="1200" dirty="0"/>
          </a:p>
        </p:txBody>
      </p:sp>
      <p:sp>
        <p:nvSpPr>
          <p:cNvPr id="12" name="Shape 10"/>
          <p:cNvSpPr/>
          <p:nvPr/>
        </p:nvSpPr>
        <p:spPr>
          <a:xfrm>
            <a:off x="4640580" y="1691640"/>
            <a:ext cx="1874520" cy="2377440"/>
          </a:xfrm>
          <a:prstGeom prst="rect">
            <a:avLst/>
          </a:prstGeom>
          <a:solidFill>
            <a:srgbClr val="8B7355">
              <a:alpha val="50000"/>
            </a:srgbClr>
          </a:solidFill>
          <a:ln w="12700">
            <a:solidFill>
              <a:srgbClr val="8B7355"/>
            </a:solidFill>
            <a:prstDash val="solid"/>
          </a:ln>
        </p:spPr>
        <p:txBody>
          <a:bodyPr/>
          <a:lstStyle/>
          <a:p>
            <a:endParaRPr lang="en-US"/>
          </a:p>
        </p:txBody>
      </p:sp>
      <p:sp>
        <p:nvSpPr>
          <p:cNvPr id="13" name="Text 11"/>
          <p:cNvSpPr/>
          <p:nvPr/>
        </p:nvSpPr>
        <p:spPr>
          <a:xfrm>
            <a:off x="4777740" y="1828800"/>
            <a:ext cx="457200" cy="365760"/>
          </a:xfrm>
          <a:prstGeom prst="rect">
            <a:avLst/>
          </a:prstGeom>
          <a:noFill/>
          <a:ln/>
        </p:spPr>
        <p:txBody>
          <a:bodyPr wrap="square" lIns="0" tIns="0" rIns="0" bIns="0" rtlCol="0" anchor="ctr"/>
          <a:lstStyle/>
          <a:p>
            <a:pPr marL="0" indent="0">
              <a:buNone/>
            </a:pPr>
            <a:r>
              <a:rPr lang="en-US" sz="1800" b="1" dirty="0">
                <a:solidFill>
                  <a:srgbClr val="2D3142"/>
                </a:solidFill>
                <a:latin typeface="Georgia" pitchFamily="34" charset="0"/>
                <a:ea typeface="Georgia" pitchFamily="34" charset="-122"/>
                <a:cs typeface="Georgia" pitchFamily="34" charset="-120"/>
              </a:rPr>
              <a:t>3</a:t>
            </a:r>
            <a:endParaRPr lang="en-US" sz="1800" dirty="0"/>
          </a:p>
        </p:txBody>
      </p:sp>
      <p:sp>
        <p:nvSpPr>
          <p:cNvPr id="14" name="Text 12"/>
          <p:cNvSpPr/>
          <p:nvPr/>
        </p:nvSpPr>
        <p:spPr>
          <a:xfrm>
            <a:off x="4640580" y="2286000"/>
            <a:ext cx="1874520" cy="457200"/>
          </a:xfrm>
          <a:prstGeom prst="rect">
            <a:avLst/>
          </a:prstGeom>
          <a:noFill/>
          <a:ln/>
        </p:spPr>
        <p:txBody>
          <a:bodyPr wrap="square" lIns="0" tIns="0" rIns="0" bIns="0" rtlCol="0" anchor="ctr"/>
          <a:lstStyle/>
          <a:p>
            <a:pPr marL="0" indent="0" algn="ctr">
              <a:buNone/>
            </a:pPr>
            <a:r>
              <a:rPr lang="en-US" sz="1800" b="1" dirty="0">
                <a:solidFill>
                  <a:srgbClr val="2F5061"/>
                </a:solidFill>
                <a:latin typeface="Georgia" pitchFamily="34" charset="0"/>
                <a:ea typeface="Georgia" pitchFamily="34" charset="-122"/>
                <a:cs typeface="Georgia" pitchFamily="34" charset="-120"/>
              </a:rPr>
              <a:t>Thorny</a:t>
            </a:r>
            <a:endParaRPr lang="en-US" sz="1800" dirty="0"/>
          </a:p>
        </p:txBody>
      </p:sp>
      <p:sp>
        <p:nvSpPr>
          <p:cNvPr id="15" name="Text 13"/>
          <p:cNvSpPr/>
          <p:nvPr/>
        </p:nvSpPr>
        <p:spPr>
          <a:xfrm>
            <a:off x="4777740" y="2834640"/>
            <a:ext cx="1600200" cy="1097280"/>
          </a:xfrm>
          <a:prstGeom prst="rect">
            <a:avLst/>
          </a:prstGeom>
          <a:noFill/>
          <a:ln/>
        </p:spPr>
        <p:txBody>
          <a:bodyPr wrap="square" lIns="0" tIns="0" rIns="0" bIns="0" rtlCol="0" anchor="t"/>
          <a:lstStyle/>
          <a:p>
            <a:pPr marL="0" indent="0" algn="ctr">
              <a:buNone/>
            </a:pPr>
            <a:r>
              <a:rPr lang="en-US" sz="1200" dirty="0">
                <a:solidFill>
                  <a:srgbClr val="2D3142"/>
                </a:solidFill>
                <a:latin typeface="Calibri" pitchFamily="34" charset="0"/>
                <a:ea typeface="Calibri" pitchFamily="34" charset="-122"/>
                <a:cs typeface="Calibri" pitchFamily="34" charset="-120"/>
              </a:rPr>
              <a:t>Received, then choked</a:t>
            </a:r>
            <a:endParaRPr lang="en-US" sz="1200" dirty="0"/>
          </a:p>
          <a:p>
            <a:pPr marL="0" indent="0" algn="ctr">
              <a:buNone/>
            </a:pPr>
            <a:r>
              <a:rPr lang="en-US" sz="1200" dirty="0">
                <a:solidFill>
                  <a:srgbClr val="2D3142"/>
                </a:solidFill>
                <a:latin typeface="Calibri" pitchFamily="34" charset="0"/>
                <a:ea typeface="Calibri" pitchFamily="34" charset="-122"/>
                <a:cs typeface="Calibri" pitchFamily="34" charset="-120"/>
              </a:rPr>
              <a:t>by cares, wealth, desires.</a:t>
            </a:r>
            <a:endParaRPr lang="en-US" sz="1200" dirty="0"/>
          </a:p>
        </p:txBody>
      </p:sp>
      <p:sp>
        <p:nvSpPr>
          <p:cNvPr id="16" name="Shape 14"/>
          <p:cNvSpPr/>
          <p:nvPr/>
        </p:nvSpPr>
        <p:spPr>
          <a:xfrm>
            <a:off x="6652260" y="1691640"/>
            <a:ext cx="1874520" cy="2377440"/>
          </a:xfrm>
          <a:prstGeom prst="rect">
            <a:avLst/>
          </a:prstGeom>
          <a:solidFill>
            <a:srgbClr val="7FA49A"/>
          </a:solidFill>
          <a:ln w="12700">
            <a:solidFill>
              <a:srgbClr val="7FA49A"/>
            </a:solidFill>
            <a:prstDash val="solid"/>
          </a:ln>
        </p:spPr>
        <p:txBody>
          <a:bodyPr/>
          <a:lstStyle/>
          <a:p>
            <a:endParaRPr lang="en-US"/>
          </a:p>
        </p:txBody>
      </p:sp>
      <p:sp>
        <p:nvSpPr>
          <p:cNvPr id="17" name="Text 15"/>
          <p:cNvSpPr/>
          <p:nvPr/>
        </p:nvSpPr>
        <p:spPr>
          <a:xfrm>
            <a:off x="6789420" y="1828800"/>
            <a:ext cx="457200" cy="36576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18" name="Text 16"/>
          <p:cNvSpPr/>
          <p:nvPr/>
        </p:nvSpPr>
        <p:spPr>
          <a:xfrm>
            <a:off x="6652260" y="2286000"/>
            <a:ext cx="187452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Good soil</a:t>
            </a:r>
            <a:endParaRPr lang="en-US" sz="1800" dirty="0"/>
          </a:p>
        </p:txBody>
      </p:sp>
      <p:sp>
        <p:nvSpPr>
          <p:cNvPr id="19" name="Text 17"/>
          <p:cNvSpPr/>
          <p:nvPr/>
        </p:nvSpPr>
        <p:spPr>
          <a:xfrm>
            <a:off x="6789420" y="2834640"/>
            <a:ext cx="1600200" cy="109728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Received, kept, endures —</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bears 30, 60, 100-fold.</a:t>
            </a:r>
            <a:endParaRPr lang="en-US" sz="1200" dirty="0"/>
          </a:p>
        </p:txBody>
      </p:sp>
      <p:sp>
        <p:nvSpPr>
          <p:cNvPr id="20" name="Text 18"/>
          <p:cNvSpPr/>
          <p:nvPr/>
        </p:nvSpPr>
        <p:spPr>
          <a:xfrm>
            <a:off x="457200" y="4343400"/>
            <a:ext cx="8229600" cy="594360"/>
          </a:xfrm>
          <a:prstGeom prst="rect">
            <a:avLst/>
          </a:prstGeom>
          <a:noFill/>
          <a:ln/>
        </p:spPr>
        <p:txBody>
          <a:bodyPr wrap="square" lIns="0" tIns="0" rIns="0" bIns="0" rtlCol="0" anchor="ctr"/>
          <a:lstStyle/>
          <a:p>
            <a:pPr marL="0" indent="0" algn="ctr">
              <a:buNone/>
            </a:pPr>
            <a:r>
              <a:rPr lang="en-US" sz="1300" b="1" dirty="0">
                <a:solidFill>
                  <a:srgbClr val="2F5061"/>
                </a:solidFill>
                <a:latin typeface="Calibri" pitchFamily="34" charset="0"/>
                <a:ea typeface="Calibri" pitchFamily="34" charset="-122"/>
                <a:cs typeface="Calibri" pitchFamily="34" charset="-120"/>
              </a:rPr>
              <a:t>Four soils. Same seed. Four different fates. </a:t>
            </a:r>
            <a:r>
              <a:rPr lang="en-US" sz="1300" dirty="0">
                <a:solidFill>
                  <a:srgbClr val="2D3142"/>
                </a:solidFill>
                <a:latin typeface="Calibri" pitchFamily="34" charset="0"/>
                <a:ea typeface="Calibri" pitchFamily="34" charset="-122"/>
                <a:cs typeface="Calibri" pitchFamily="34" charset="-120"/>
              </a:rPr>
              <a:t>The question is not only "am I saved?" but "what is my soil, on this word, right now?"</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2800" b="1" dirty="0">
                <a:solidFill>
                  <a:srgbClr val="2F5061"/>
                </a:solidFill>
                <a:latin typeface="Georgia" pitchFamily="34" charset="0"/>
                <a:ea typeface="Georgia" pitchFamily="34" charset="-122"/>
                <a:cs typeface="Georgia" pitchFamily="34" charset="-120"/>
              </a:rPr>
              <a:t>Five stages from ear to life</a:t>
            </a:r>
            <a:endParaRPr lang="en-US" sz="2800" dirty="0"/>
          </a:p>
        </p:txBody>
      </p:sp>
      <p:sp>
        <p:nvSpPr>
          <p:cNvPr id="3" name="Text 1"/>
          <p:cNvSpPr/>
          <p:nvPr/>
        </p:nvSpPr>
        <p:spPr>
          <a:xfrm>
            <a:off x="457200" y="960120"/>
            <a:ext cx="8229600" cy="320040"/>
          </a:xfrm>
          <a:prstGeom prst="rect">
            <a:avLst/>
          </a:prstGeom>
          <a:noFill/>
          <a:ln/>
        </p:spPr>
        <p:txBody>
          <a:bodyPr wrap="square" lIns="0" tIns="0" rIns="0" bIns="0" rtlCol="0" anchor="ctr"/>
          <a:lstStyle/>
          <a:p>
            <a:pPr marL="0" indent="0">
              <a:buNone/>
            </a:pPr>
            <a:r>
              <a:rPr lang="en-US" sz="1300" i="1" dirty="0">
                <a:solidFill>
                  <a:srgbClr val="7A8A9C"/>
                </a:solidFill>
                <a:latin typeface="Calibri" pitchFamily="34" charset="0"/>
                <a:ea typeface="Calibri" pitchFamily="34" charset="-122"/>
                <a:cs typeface="Calibri" pitchFamily="34" charset="-120"/>
              </a:rPr>
              <a:t>Educators noticed a pattern. Scripture confirms it. It gives us the map we were missing.</a:t>
            </a:r>
            <a:endParaRPr lang="en-US" sz="1300" dirty="0"/>
          </a:p>
        </p:txBody>
      </p:sp>
      <p:sp>
        <p:nvSpPr>
          <p:cNvPr id="4" name="Shape 2"/>
          <p:cNvSpPr/>
          <p:nvPr/>
        </p:nvSpPr>
        <p:spPr>
          <a:xfrm>
            <a:off x="1097280" y="1476756"/>
            <a:ext cx="502920" cy="502920"/>
          </a:xfrm>
          <a:prstGeom prst="ellipse">
            <a:avLst/>
          </a:prstGeom>
          <a:solidFill>
            <a:srgbClr val="2F5061"/>
          </a:solidFill>
          <a:ln w="12700">
            <a:solidFill>
              <a:srgbClr val="2F5061"/>
            </a:solidFill>
            <a:prstDash val="solid"/>
          </a:ln>
        </p:spPr>
        <p:txBody>
          <a:bodyPr/>
          <a:lstStyle/>
          <a:p>
            <a:endParaRPr lang="en-US"/>
          </a:p>
        </p:txBody>
      </p:sp>
      <p:sp>
        <p:nvSpPr>
          <p:cNvPr id="5" name="Text 3"/>
          <p:cNvSpPr/>
          <p:nvPr/>
        </p:nvSpPr>
        <p:spPr>
          <a:xfrm>
            <a:off x="1097280" y="1476756"/>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6" name="Text 4"/>
          <p:cNvSpPr/>
          <p:nvPr/>
        </p:nvSpPr>
        <p:spPr>
          <a:xfrm>
            <a:off x="1828800" y="1417320"/>
            <a:ext cx="2286000" cy="621792"/>
          </a:xfrm>
          <a:prstGeom prst="rect">
            <a:avLst/>
          </a:prstGeom>
          <a:noFill/>
          <a:ln/>
        </p:spPr>
        <p:txBody>
          <a:bodyPr wrap="square" lIns="0" tIns="0" rIns="0" bIns="0" rtlCol="0" anchor="ctr"/>
          <a:lstStyle/>
          <a:p>
            <a:pPr marL="0" indent="0">
              <a:buNone/>
            </a:pPr>
            <a:r>
              <a:rPr lang="en-US" sz="1800" b="1" dirty="0">
                <a:solidFill>
                  <a:srgbClr val="2F5061"/>
                </a:solidFill>
                <a:latin typeface="Georgia" pitchFamily="34" charset="0"/>
                <a:ea typeface="Georgia" pitchFamily="34" charset="-122"/>
                <a:cs typeface="Georgia" pitchFamily="34" charset="-120"/>
              </a:rPr>
              <a:t>Receiving</a:t>
            </a:r>
            <a:endParaRPr lang="en-US" sz="1800" dirty="0"/>
          </a:p>
        </p:txBody>
      </p:sp>
      <p:sp>
        <p:nvSpPr>
          <p:cNvPr id="7" name="Text 5"/>
          <p:cNvSpPr/>
          <p:nvPr/>
        </p:nvSpPr>
        <p:spPr>
          <a:xfrm>
            <a:off x="4114800" y="1417320"/>
            <a:ext cx="4846320" cy="621792"/>
          </a:xfrm>
          <a:prstGeom prst="rect">
            <a:avLst/>
          </a:prstGeom>
          <a:noFill/>
          <a:ln/>
        </p:spPr>
        <p:txBody>
          <a:bodyPr wrap="square" lIns="0" tIns="0" rIns="0" bIns="0" rtlCol="0" anchor="ctr"/>
          <a:lstStyle/>
          <a:p>
            <a:pPr marL="0" indent="0">
              <a:buNone/>
            </a:pPr>
            <a:r>
              <a:rPr lang="en-US" sz="1300" dirty="0">
                <a:solidFill>
                  <a:srgbClr val="2D3142"/>
                </a:solidFill>
                <a:latin typeface="Calibri" pitchFamily="34" charset="0"/>
                <a:ea typeface="Calibri" pitchFamily="34" charset="-122"/>
                <a:cs typeface="Calibri" pitchFamily="34" charset="-120"/>
              </a:rPr>
              <a:t>I hear it. I pay attention.</a:t>
            </a:r>
            <a:endParaRPr lang="en-US" sz="1300" dirty="0"/>
          </a:p>
        </p:txBody>
      </p:sp>
      <p:sp>
        <p:nvSpPr>
          <p:cNvPr id="8" name="Shape 6"/>
          <p:cNvSpPr/>
          <p:nvPr/>
        </p:nvSpPr>
        <p:spPr>
          <a:xfrm>
            <a:off x="1097280" y="2189988"/>
            <a:ext cx="502920" cy="502920"/>
          </a:xfrm>
          <a:prstGeom prst="ellipse">
            <a:avLst/>
          </a:prstGeom>
          <a:solidFill>
            <a:srgbClr val="2F5061"/>
          </a:solidFill>
          <a:ln w="12700">
            <a:solidFill>
              <a:srgbClr val="2F5061"/>
            </a:solidFill>
            <a:prstDash val="solid"/>
          </a:ln>
        </p:spPr>
        <p:txBody>
          <a:bodyPr/>
          <a:lstStyle/>
          <a:p>
            <a:endParaRPr lang="en-US"/>
          </a:p>
        </p:txBody>
      </p:sp>
      <p:sp>
        <p:nvSpPr>
          <p:cNvPr id="9" name="Text 7"/>
          <p:cNvSpPr/>
          <p:nvPr/>
        </p:nvSpPr>
        <p:spPr>
          <a:xfrm>
            <a:off x="1097280" y="218998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0" name="Text 8"/>
          <p:cNvSpPr/>
          <p:nvPr/>
        </p:nvSpPr>
        <p:spPr>
          <a:xfrm>
            <a:off x="1828800" y="2130552"/>
            <a:ext cx="2286000" cy="621792"/>
          </a:xfrm>
          <a:prstGeom prst="rect">
            <a:avLst/>
          </a:prstGeom>
          <a:noFill/>
          <a:ln/>
        </p:spPr>
        <p:txBody>
          <a:bodyPr wrap="square" lIns="0" tIns="0" rIns="0" bIns="0" rtlCol="0" anchor="ctr"/>
          <a:lstStyle/>
          <a:p>
            <a:pPr marL="0" indent="0">
              <a:buNone/>
            </a:pPr>
            <a:r>
              <a:rPr lang="en-US" sz="1800" b="1" dirty="0">
                <a:solidFill>
                  <a:srgbClr val="2F5061"/>
                </a:solidFill>
                <a:latin typeface="Georgia" pitchFamily="34" charset="0"/>
                <a:ea typeface="Georgia" pitchFamily="34" charset="-122"/>
                <a:cs typeface="Georgia" pitchFamily="34" charset="-120"/>
              </a:rPr>
              <a:t>Responding</a:t>
            </a:r>
            <a:endParaRPr lang="en-US" sz="1800" dirty="0"/>
          </a:p>
        </p:txBody>
      </p:sp>
      <p:sp>
        <p:nvSpPr>
          <p:cNvPr id="11" name="Text 9"/>
          <p:cNvSpPr/>
          <p:nvPr/>
        </p:nvSpPr>
        <p:spPr>
          <a:xfrm>
            <a:off x="4114800" y="2130552"/>
            <a:ext cx="4846320" cy="621792"/>
          </a:xfrm>
          <a:prstGeom prst="rect">
            <a:avLst/>
          </a:prstGeom>
          <a:noFill/>
          <a:ln/>
        </p:spPr>
        <p:txBody>
          <a:bodyPr wrap="square" lIns="0" tIns="0" rIns="0" bIns="0" rtlCol="0" anchor="ctr"/>
          <a:lstStyle/>
          <a:p>
            <a:pPr marL="0" indent="0">
              <a:buNone/>
            </a:pPr>
            <a:r>
              <a:rPr lang="en-US" sz="1300" dirty="0">
                <a:solidFill>
                  <a:srgbClr val="2D3142"/>
                </a:solidFill>
                <a:latin typeface="Calibri" pitchFamily="34" charset="0"/>
                <a:ea typeface="Calibri" pitchFamily="34" charset="-122"/>
                <a:cs typeface="Calibri" pitchFamily="34" charset="-120"/>
              </a:rPr>
              <a:t>I act on it at least once — maybe awkwardly.</a:t>
            </a:r>
            <a:endParaRPr lang="en-US" sz="1300" dirty="0"/>
          </a:p>
        </p:txBody>
      </p:sp>
      <p:sp>
        <p:nvSpPr>
          <p:cNvPr id="12" name="Shape 10"/>
          <p:cNvSpPr/>
          <p:nvPr/>
        </p:nvSpPr>
        <p:spPr>
          <a:xfrm>
            <a:off x="1097280" y="2903220"/>
            <a:ext cx="502920" cy="502920"/>
          </a:xfrm>
          <a:prstGeom prst="ellipse">
            <a:avLst/>
          </a:prstGeom>
          <a:solidFill>
            <a:srgbClr val="2F5061"/>
          </a:solidFill>
          <a:ln w="12700">
            <a:solidFill>
              <a:srgbClr val="2F5061"/>
            </a:solidFill>
            <a:prstDash val="solid"/>
          </a:ln>
        </p:spPr>
        <p:txBody>
          <a:bodyPr/>
          <a:lstStyle/>
          <a:p>
            <a:endParaRPr lang="en-US"/>
          </a:p>
        </p:txBody>
      </p:sp>
      <p:sp>
        <p:nvSpPr>
          <p:cNvPr id="13" name="Text 11"/>
          <p:cNvSpPr/>
          <p:nvPr/>
        </p:nvSpPr>
        <p:spPr>
          <a:xfrm>
            <a:off x="1097280" y="29032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4" name="Text 12"/>
          <p:cNvSpPr/>
          <p:nvPr/>
        </p:nvSpPr>
        <p:spPr>
          <a:xfrm>
            <a:off x="1828800" y="2843784"/>
            <a:ext cx="2286000" cy="621792"/>
          </a:xfrm>
          <a:prstGeom prst="rect">
            <a:avLst/>
          </a:prstGeom>
          <a:noFill/>
          <a:ln/>
        </p:spPr>
        <p:txBody>
          <a:bodyPr wrap="square" lIns="0" tIns="0" rIns="0" bIns="0" rtlCol="0" anchor="ctr"/>
          <a:lstStyle/>
          <a:p>
            <a:pPr marL="0" indent="0">
              <a:buNone/>
            </a:pPr>
            <a:r>
              <a:rPr lang="en-US" sz="1800" b="1" dirty="0">
                <a:solidFill>
                  <a:srgbClr val="2F5061"/>
                </a:solidFill>
                <a:latin typeface="Georgia" pitchFamily="34" charset="0"/>
                <a:ea typeface="Georgia" pitchFamily="34" charset="-122"/>
                <a:cs typeface="Georgia" pitchFamily="34" charset="-120"/>
              </a:rPr>
              <a:t>Valuing</a:t>
            </a:r>
            <a:endParaRPr lang="en-US" sz="1800" dirty="0"/>
          </a:p>
        </p:txBody>
      </p:sp>
      <p:sp>
        <p:nvSpPr>
          <p:cNvPr id="15" name="Text 13"/>
          <p:cNvSpPr/>
          <p:nvPr/>
        </p:nvSpPr>
        <p:spPr>
          <a:xfrm>
            <a:off x="4114800" y="2843784"/>
            <a:ext cx="4846320" cy="621792"/>
          </a:xfrm>
          <a:prstGeom prst="rect">
            <a:avLst/>
          </a:prstGeom>
          <a:noFill/>
          <a:ln/>
        </p:spPr>
        <p:txBody>
          <a:bodyPr wrap="square" lIns="0" tIns="0" rIns="0" bIns="0" rtlCol="0" anchor="ctr"/>
          <a:lstStyle/>
          <a:p>
            <a:pPr marL="0" indent="0">
              <a:buNone/>
            </a:pPr>
            <a:r>
              <a:rPr lang="en-US" sz="1300" dirty="0">
                <a:solidFill>
                  <a:srgbClr val="2D3142"/>
                </a:solidFill>
                <a:latin typeface="Calibri" pitchFamily="34" charset="0"/>
                <a:ea typeface="Calibri" pitchFamily="34" charset="-122"/>
                <a:cs typeface="Calibri" pitchFamily="34" charset="-120"/>
              </a:rPr>
              <a:t>I begin to care about it. My affections have turned.</a:t>
            </a:r>
            <a:endParaRPr lang="en-US" sz="1300" dirty="0"/>
          </a:p>
        </p:txBody>
      </p:sp>
      <p:sp>
        <p:nvSpPr>
          <p:cNvPr id="16" name="Shape 14"/>
          <p:cNvSpPr/>
          <p:nvPr/>
        </p:nvSpPr>
        <p:spPr>
          <a:xfrm>
            <a:off x="1097280" y="3616452"/>
            <a:ext cx="502920" cy="502920"/>
          </a:xfrm>
          <a:prstGeom prst="ellipse">
            <a:avLst/>
          </a:prstGeom>
          <a:solidFill>
            <a:srgbClr val="2F5061"/>
          </a:solidFill>
          <a:ln w="12700">
            <a:solidFill>
              <a:srgbClr val="2F5061"/>
            </a:solidFill>
            <a:prstDash val="solid"/>
          </a:ln>
        </p:spPr>
        <p:txBody>
          <a:bodyPr/>
          <a:lstStyle/>
          <a:p>
            <a:endParaRPr lang="en-US"/>
          </a:p>
        </p:txBody>
      </p:sp>
      <p:sp>
        <p:nvSpPr>
          <p:cNvPr id="17" name="Text 15"/>
          <p:cNvSpPr/>
          <p:nvPr/>
        </p:nvSpPr>
        <p:spPr>
          <a:xfrm>
            <a:off x="1097280" y="361645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18" name="Text 16"/>
          <p:cNvSpPr/>
          <p:nvPr/>
        </p:nvSpPr>
        <p:spPr>
          <a:xfrm>
            <a:off x="1828800" y="3557016"/>
            <a:ext cx="2286000" cy="621792"/>
          </a:xfrm>
          <a:prstGeom prst="rect">
            <a:avLst/>
          </a:prstGeom>
          <a:noFill/>
          <a:ln/>
        </p:spPr>
        <p:txBody>
          <a:bodyPr wrap="square" lIns="0" tIns="0" rIns="0" bIns="0" rtlCol="0" anchor="ctr"/>
          <a:lstStyle/>
          <a:p>
            <a:pPr marL="0" indent="0">
              <a:buNone/>
            </a:pPr>
            <a:r>
              <a:rPr lang="en-US" sz="1800" b="1" dirty="0">
                <a:solidFill>
                  <a:srgbClr val="2F5061"/>
                </a:solidFill>
                <a:latin typeface="Georgia" pitchFamily="34" charset="0"/>
                <a:ea typeface="Georgia" pitchFamily="34" charset="-122"/>
                <a:cs typeface="Georgia" pitchFamily="34" charset="-120"/>
              </a:rPr>
              <a:t>Organizing</a:t>
            </a:r>
            <a:endParaRPr lang="en-US" sz="1800" dirty="0"/>
          </a:p>
        </p:txBody>
      </p:sp>
      <p:sp>
        <p:nvSpPr>
          <p:cNvPr id="19" name="Text 17"/>
          <p:cNvSpPr/>
          <p:nvPr/>
        </p:nvSpPr>
        <p:spPr>
          <a:xfrm>
            <a:off x="4114800" y="3557016"/>
            <a:ext cx="4846320" cy="621792"/>
          </a:xfrm>
          <a:prstGeom prst="rect">
            <a:avLst/>
          </a:prstGeom>
          <a:noFill/>
          <a:ln/>
        </p:spPr>
        <p:txBody>
          <a:bodyPr wrap="square" lIns="0" tIns="0" rIns="0" bIns="0" rtlCol="0" anchor="ctr"/>
          <a:lstStyle/>
          <a:p>
            <a:pPr marL="0" indent="0">
              <a:buNone/>
            </a:pPr>
            <a:r>
              <a:rPr lang="en-US" sz="1300" dirty="0">
                <a:solidFill>
                  <a:srgbClr val="2D3142"/>
                </a:solidFill>
                <a:latin typeface="Calibri" pitchFamily="34" charset="0"/>
                <a:ea typeface="Calibri" pitchFamily="34" charset="-122"/>
                <a:cs typeface="Calibri" pitchFamily="34" charset="-120"/>
              </a:rPr>
              <a:t>It integrates with other values I hold. They shape each other.</a:t>
            </a:r>
            <a:endParaRPr lang="en-US" sz="1300" dirty="0"/>
          </a:p>
        </p:txBody>
      </p:sp>
      <p:sp>
        <p:nvSpPr>
          <p:cNvPr id="20" name="Shape 18"/>
          <p:cNvSpPr/>
          <p:nvPr/>
        </p:nvSpPr>
        <p:spPr>
          <a:xfrm>
            <a:off x="1097280" y="4329684"/>
            <a:ext cx="502920" cy="502920"/>
          </a:xfrm>
          <a:prstGeom prst="ellipse">
            <a:avLst/>
          </a:prstGeom>
          <a:solidFill>
            <a:srgbClr val="C8981F"/>
          </a:solidFill>
          <a:ln w="12700">
            <a:solidFill>
              <a:srgbClr val="C8981F"/>
            </a:solidFill>
            <a:prstDash val="solid"/>
          </a:ln>
        </p:spPr>
        <p:txBody>
          <a:bodyPr/>
          <a:lstStyle/>
          <a:p>
            <a:endParaRPr lang="en-US"/>
          </a:p>
        </p:txBody>
      </p:sp>
      <p:sp>
        <p:nvSpPr>
          <p:cNvPr id="21" name="Text 19"/>
          <p:cNvSpPr/>
          <p:nvPr/>
        </p:nvSpPr>
        <p:spPr>
          <a:xfrm>
            <a:off x="1097280" y="4329684"/>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22" name="Text 20"/>
          <p:cNvSpPr/>
          <p:nvPr/>
        </p:nvSpPr>
        <p:spPr>
          <a:xfrm>
            <a:off x="1828800" y="4270248"/>
            <a:ext cx="2286000" cy="621792"/>
          </a:xfrm>
          <a:prstGeom prst="rect">
            <a:avLst/>
          </a:prstGeom>
          <a:noFill/>
          <a:ln/>
        </p:spPr>
        <p:txBody>
          <a:bodyPr wrap="square" lIns="0" tIns="0" rIns="0" bIns="0" rtlCol="0" anchor="ctr"/>
          <a:lstStyle/>
          <a:p>
            <a:pPr marL="0" indent="0">
              <a:buNone/>
            </a:pPr>
            <a:r>
              <a:rPr lang="en-US" sz="1800" b="1" dirty="0">
                <a:solidFill>
                  <a:srgbClr val="2F5061"/>
                </a:solidFill>
                <a:latin typeface="Georgia" pitchFamily="34" charset="0"/>
                <a:ea typeface="Georgia" pitchFamily="34" charset="-122"/>
                <a:cs typeface="Georgia" pitchFamily="34" charset="-120"/>
              </a:rPr>
              <a:t>Character</a:t>
            </a:r>
            <a:endParaRPr lang="en-US" sz="1800" dirty="0"/>
          </a:p>
        </p:txBody>
      </p:sp>
      <p:sp>
        <p:nvSpPr>
          <p:cNvPr id="23" name="Text 21"/>
          <p:cNvSpPr/>
          <p:nvPr/>
        </p:nvSpPr>
        <p:spPr>
          <a:xfrm>
            <a:off x="4114800" y="4270248"/>
            <a:ext cx="4846320" cy="621792"/>
          </a:xfrm>
          <a:prstGeom prst="rect">
            <a:avLst/>
          </a:prstGeom>
          <a:noFill/>
          <a:ln/>
        </p:spPr>
        <p:txBody>
          <a:bodyPr wrap="square" lIns="0" tIns="0" rIns="0" bIns="0" rtlCol="0" anchor="ctr"/>
          <a:lstStyle/>
          <a:p>
            <a:pPr marL="0" indent="0">
              <a:buNone/>
            </a:pPr>
            <a:r>
              <a:rPr lang="en-US" sz="1300" dirty="0">
                <a:solidFill>
                  <a:srgbClr val="2D3142"/>
                </a:solidFill>
                <a:latin typeface="Calibri" pitchFamily="34" charset="0"/>
                <a:ea typeface="Calibri" pitchFamily="34" charset="-122"/>
                <a:cs typeface="Calibri" pitchFamily="34" charset="-120"/>
              </a:rPr>
              <a:t>It is who I am. I live it without having to think.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600" b="1" dirty="0">
                <a:solidFill>
                  <a:srgbClr val="2F5061"/>
                </a:solidFill>
                <a:latin typeface="Georgia" pitchFamily="34" charset="0"/>
                <a:ea typeface="Georgia" pitchFamily="34" charset="-122"/>
                <a:cs typeface="Georgia" pitchFamily="34" charset="-120"/>
              </a:rPr>
              <a:t>Applied: hearing and obeying God</a:t>
            </a:r>
            <a:endParaRPr lang="en-US" sz="2600" dirty="0"/>
          </a:p>
        </p:txBody>
      </p:sp>
      <p:sp>
        <p:nvSpPr>
          <p:cNvPr id="3" name="Text 1"/>
          <p:cNvSpPr/>
          <p:nvPr/>
        </p:nvSpPr>
        <p:spPr>
          <a:xfrm>
            <a:off x="640080" y="960120"/>
            <a:ext cx="1737360" cy="274320"/>
          </a:xfrm>
          <a:prstGeom prst="rect">
            <a:avLst/>
          </a:prstGeom>
          <a:noFill/>
          <a:ln/>
        </p:spPr>
        <p:txBody>
          <a:bodyPr wrap="square" lIns="0" tIns="0" rIns="0" bIns="0" rtlCol="0" anchor="ctr"/>
          <a:lstStyle/>
          <a:p>
            <a:pPr marL="0" indent="0">
              <a:buNone/>
            </a:pPr>
            <a:r>
              <a:rPr lang="en-US" sz="1000" b="1" kern="0" spc="200" dirty="0">
                <a:solidFill>
                  <a:srgbClr val="7A8A9C"/>
                </a:solidFill>
                <a:latin typeface="Calibri" pitchFamily="34" charset="0"/>
                <a:ea typeface="Calibri" pitchFamily="34" charset="-122"/>
                <a:cs typeface="Calibri" pitchFamily="34" charset="-120"/>
              </a:rPr>
              <a:t>STAGE</a:t>
            </a:r>
            <a:endParaRPr lang="en-US" sz="1000" dirty="0"/>
          </a:p>
        </p:txBody>
      </p:sp>
      <p:sp>
        <p:nvSpPr>
          <p:cNvPr id="4" name="Text 2"/>
          <p:cNvSpPr/>
          <p:nvPr/>
        </p:nvSpPr>
        <p:spPr>
          <a:xfrm>
            <a:off x="2468880" y="960120"/>
            <a:ext cx="3474720" cy="274320"/>
          </a:xfrm>
          <a:prstGeom prst="rect">
            <a:avLst/>
          </a:prstGeom>
          <a:noFill/>
          <a:ln/>
        </p:spPr>
        <p:txBody>
          <a:bodyPr wrap="square" lIns="0" tIns="0" rIns="0" bIns="0" rtlCol="0" anchor="ctr"/>
          <a:lstStyle/>
          <a:p>
            <a:pPr marL="0" indent="0">
              <a:buNone/>
            </a:pPr>
            <a:r>
              <a:rPr lang="en-US" sz="1000" b="1" kern="0" spc="200" dirty="0">
                <a:solidFill>
                  <a:srgbClr val="7A8A9C"/>
                </a:solidFill>
                <a:latin typeface="Calibri" pitchFamily="34" charset="0"/>
                <a:ea typeface="Calibri" pitchFamily="34" charset="-122"/>
                <a:cs typeface="Calibri" pitchFamily="34" charset="-120"/>
              </a:rPr>
              <a:t>SCRIPTURE ANCHOR</a:t>
            </a:r>
            <a:endParaRPr lang="en-US" sz="1000" dirty="0"/>
          </a:p>
        </p:txBody>
      </p:sp>
      <p:sp>
        <p:nvSpPr>
          <p:cNvPr id="5" name="Text 3"/>
          <p:cNvSpPr/>
          <p:nvPr/>
        </p:nvSpPr>
        <p:spPr>
          <a:xfrm>
            <a:off x="6035040" y="960120"/>
            <a:ext cx="2834640" cy="274320"/>
          </a:xfrm>
          <a:prstGeom prst="rect">
            <a:avLst/>
          </a:prstGeom>
          <a:noFill/>
          <a:ln/>
        </p:spPr>
        <p:txBody>
          <a:bodyPr wrap="square" lIns="0" tIns="0" rIns="0" bIns="0" rtlCol="0" anchor="ctr"/>
          <a:lstStyle/>
          <a:p>
            <a:pPr marL="0" indent="0">
              <a:buNone/>
            </a:pPr>
            <a:r>
              <a:rPr lang="en-US" sz="1000" b="1" kern="0" spc="200" dirty="0">
                <a:solidFill>
                  <a:srgbClr val="7A8A9C"/>
                </a:solidFill>
                <a:latin typeface="Calibri" pitchFamily="34" charset="0"/>
                <a:ea typeface="Calibri" pitchFamily="34" charset="-122"/>
                <a:cs typeface="Calibri" pitchFamily="34" charset="-120"/>
              </a:rPr>
              <a:t>WHAT IT LOOKS LIKE</a:t>
            </a:r>
            <a:endParaRPr lang="en-US" sz="1000" dirty="0"/>
          </a:p>
        </p:txBody>
      </p:sp>
      <p:sp>
        <p:nvSpPr>
          <p:cNvPr id="6" name="Shape 4"/>
          <p:cNvSpPr/>
          <p:nvPr/>
        </p:nvSpPr>
        <p:spPr>
          <a:xfrm>
            <a:off x="457200" y="1325880"/>
            <a:ext cx="8229600" cy="594360"/>
          </a:xfrm>
          <a:prstGeom prst="rect">
            <a:avLst/>
          </a:prstGeom>
          <a:solidFill>
            <a:srgbClr val="F5F1EA"/>
          </a:solidFill>
          <a:ln w="12700">
            <a:solidFill>
              <a:srgbClr val="F5F1EA"/>
            </a:solidFill>
            <a:prstDash val="solid"/>
          </a:ln>
        </p:spPr>
        <p:txBody>
          <a:bodyPr/>
          <a:lstStyle/>
          <a:p>
            <a:endParaRPr lang="en-US"/>
          </a:p>
        </p:txBody>
      </p:sp>
      <p:sp>
        <p:nvSpPr>
          <p:cNvPr id="7" name="Text 5"/>
          <p:cNvSpPr/>
          <p:nvPr/>
        </p:nvSpPr>
        <p:spPr>
          <a:xfrm>
            <a:off x="640080" y="1325880"/>
            <a:ext cx="1737360" cy="594360"/>
          </a:xfrm>
          <a:prstGeom prst="rect">
            <a:avLst/>
          </a:prstGeom>
          <a:noFill/>
          <a:ln/>
        </p:spPr>
        <p:txBody>
          <a:bodyPr wrap="square" lIns="0" tIns="0" rIns="0" bIns="0" rtlCol="0" anchor="ctr"/>
          <a:lstStyle/>
          <a:p>
            <a:pPr marL="0" indent="0">
              <a:buNone/>
            </a:pPr>
            <a:r>
              <a:rPr lang="en-US" sz="1400" b="1" dirty="0">
                <a:solidFill>
                  <a:srgbClr val="2F5061"/>
                </a:solidFill>
                <a:latin typeface="Georgia" pitchFamily="34" charset="0"/>
                <a:ea typeface="Georgia" pitchFamily="34" charset="-122"/>
                <a:cs typeface="Georgia" pitchFamily="34" charset="-120"/>
              </a:rPr>
              <a:t>Receiving</a:t>
            </a:r>
            <a:endParaRPr lang="en-US" sz="1400" dirty="0"/>
          </a:p>
        </p:txBody>
      </p:sp>
      <p:sp>
        <p:nvSpPr>
          <p:cNvPr id="8" name="Text 6"/>
          <p:cNvSpPr/>
          <p:nvPr/>
        </p:nvSpPr>
        <p:spPr>
          <a:xfrm>
            <a:off x="2468880" y="1325880"/>
            <a:ext cx="3474720" cy="594360"/>
          </a:xfrm>
          <a:prstGeom prst="rect">
            <a:avLst/>
          </a:prstGeom>
          <a:noFill/>
          <a:ln/>
        </p:spPr>
        <p:txBody>
          <a:bodyPr wrap="square" lIns="0" tIns="0" rIns="0" bIns="0" rtlCol="0" anchor="ctr"/>
          <a:lstStyle/>
          <a:p>
            <a:pPr marL="0" indent="0">
              <a:buNone/>
            </a:pPr>
            <a:r>
              <a:rPr lang="en-US" sz="1200" i="1" dirty="0">
                <a:solidFill>
                  <a:srgbClr val="2D3142"/>
                </a:solidFill>
                <a:latin typeface="Calibri" pitchFamily="34" charset="0"/>
                <a:ea typeface="Calibri" pitchFamily="34" charset="-122"/>
                <a:cs typeface="Calibri" pitchFamily="34" charset="-120"/>
              </a:rPr>
              <a:t>"Faith comes by hearing"</a:t>
            </a:r>
            <a:endParaRPr lang="en-US" sz="1200" dirty="0"/>
          </a:p>
          <a:p>
            <a:pPr marL="0" indent="0">
              <a:buNone/>
            </a:pPr>
            <a:r>
              <a:rPr lang="en-US" sz="1000" b="1" dirty="0">
                <a:solidFill>
                  <a:srgbClr val="7FA49A"/>
                </a:solidFill>
                <a:latin typeface="Calibri" pitchFamily="34" charset="0"/>
                <a:ea typeface="Calibri" pitchFamily="34" charset="-122"/>
                <a:cs typeface="Calibri" pitchFamily="34" charset="-120"/>
              </a:rPr>
              <a:t>Romans 10:17</a:t>
            </a:r>
            <a:endParaRPr lang="en-US" sz="1200" dirty="0"/>
          </a:p>
        </p:txBody>
      </p:sp>
      <p:sp>
        <p:nvSpPr>
          <p:cNvPr id="9" name="Text 7"/>
          <p:cNvSpPr/>
          <p:nvPr/>
        </p:nvSpPr>
        <p:spPr>
          <a:xfrm>
            <a:off x="6035040" y="1325880"/>
            <a:ext cx="2834640" cy="594360"/>
          </a:xfrm>
          <a:prstGeom prst="rect">
            <a:avLst/>
          </a:prstGeom>
          <a:noFill/>
          <a:ln/>
        </p:spPr>
        <p:txBody>
          <a:bodyPr wrap="square" lIns="0" tIns="0" rIns="0" bIns="0" rtlCol="0" anchor="ctr"/>
          <a:lstStyle/>
          <a:p>
            <a:pPr marL="0" indent="0">
              <a:buNone/>
            </a:pPr>
            <a:r>
              <a:rPr lang="en-US" sz="1200" dirty="0">
                <a:solidFill>
                  <a:srgbClr val="2D3142"/>
                </a:solidFill>
                <a:latin typeface="Calibri" pitchFamily="34" charset="0"/>
                <a:ea typeface="Calibri" pitchFamily="34" charset="-122"/>
                <a:cs typeface="Calibri" pitchFamily="34" charset="-120"/>
              </a:rPr>
              <a:t>You sat under the Word. It entered.</a:t>
            </a:r>
            <a:endParaRPr lang="en-US" sz="1200" dirty="0"/>
          </a:p>
        </p:txBody>
      </p:sp>
      <p:sp>
        <p:nvSpPr>
          <p:cNvPr id="10" name="Text 8"/>
          <p:cNvSpPr/>
          <p:nvPr/>
        </p:nvSpPr>
        <p:spPr>
          <a:xfrm>
            <a:off x="640080" y="1965960"/>
            <a:ext cx="1737360" cy="594360"/>
          </a:xfrm>
          <a:prstGeom prst="rect">
            <a:avLst/>
          </a:prstGeom>
          <a:noFill/>
          <a:ln/>
        </p:spPr>
        <p:txBody>
          <a:bodyPr wrap="square" lIns="0" tIns="0" rIns="0" bIns="0" rtlCol="0" anchor="ctr"/>
          <a:lstStyle/>
          <a:p>
            <a:pPr marL="0" indent="0">
              <a:buNone/>
            </a:pPr>
            <a:r>
              <a:rPr lang="en-US" sz="1400" b="1" dirty="0">
                <a:solidFill>
                  <a:srgbClr val="2F5061"/>
                </a:solidFill>
                <a:latin typeface="Georgia" pitchFamily="34" charset="0"/>
                <a:ea typeface="Georgia" pitchFamily="34" charset="-122"/>
                <a:cs typeface="Georgia" pitchFamily="34" charset="-120"/>
              </a:rPr>
              <a:t>Responding</a:t>
            </a:r>
            <a:endParaRPr lang="en-US" sz="1400" dirty="0"/>
          </a:p>
        </p:txBody>
      </p:sp>
      <p:sp>
        <p:nvSpPr>
          <p:cNvPr id="11" name="Text 9"/>
          <p:cNvSpPr/>
          <p:nvPr/>
        </p:nvSpPr>
        <p:spPr>
          <a:xfrm>
            <a:off x="2468880" y="1965960"/>
            <a:ext cx="3474720" cy="594360"/>
          </a:xfrm>
          <a:prstGeom prst="rect">
            <a:avLst/>
          </a:prstGeom>
          <a:noFill/>
          <a:ln/>
        </p:spPr>
        <p:txBody>
          <a:bodyPr wrap="square" lIns="0" tIns="0" rIns="0" bIns="0" rtlCol="0" anchor="ctr"/>
          <a:lstStyle/>
          <a:p>
            <a:pPr marL="0" indent="0">
              <a:buNone/>
            </a:pPr>
            <a:r>
              <a:rPr lang="en-US" sz="1200" i="1" dirty="0">
                <a:solidFill>
                  <a:srgbClr val="2D3142"/>
                </a:solidFill>
                <a:latin typeface="Calibri" pitchFamily="34" charset="0"/>
                <a:ea typeface="Calibri" pitchFamily="34" charset="-122"/>
                <a:cs typeface="Calibri" pitchFamily="34" charset="-120"/>
              </a:rPr>
              <a:t>"Be doers of the word"</a:t>
            </a:r>
            <a:endParaRPr lang="en-US" sz="1200" dirty="0"/>
          </a:p>
          <a:p>
            <a:pPr marL="0" indent="0">
              <a:buNone/>
            </a:pPr>
            <a:r>
              <a:rPr lang="en-US" sz="1000" b="1" dirty="0">
                <a:solidFill>
                  <a:srgbClr val="7FA49A"/>
                </a:solidFill>
                <a:latin typeface="Calibri" pitchFamily="34" charset="0"/>
                <a:ea typeface="Calibri" pitchFamily="34" charset="-122"/>
                <a:cs typeface="Calibri" pitchFamily="34" charset="-120"/>
              </a:rPr>
              <a:t>James 1:22</a:t>
            </a:r>
            <a:endParaRPr lang="en-US" sz="1200" dirty="0"/>
          </a:p>
        </p:txBody>
      </p:sp>
      <p:sp>
        <p:nvSpPr>
          <p:cNvPr id="12" name="Text 10"/>
          <p:cNvSpPr/>
          <p:nvPr/>
        </p:nvSpPr>
        <p:spPr>
          <a:xfrm>
            <a:off x="6035040" y="1965960"/>
            <a:ext cx="2834640" cy="594360"/>
          </a:xfrm>
          <a:prstGeom prst="rect">
            <a:avLst/>
          </a:prstGeom>
          <a:noFill/>
          <a:ln/>
        </p:spPr>
        <p:txBody>
          <a:bodyPr wrap="square" lIns="0" tIns="0" rIns="0" bIns="0" rtlCol="0" anchor="ctr"/>
          <a:lstStyle/>
          <a:p>
            <a:pPr marL="0" indent="0">
              <a:buNone/>
            </a:pPr>
            <a:r>
              <a:rPr lang="en-US" sz="1200" dirty="0">
                <a:solidFill>
                  <a:srgbClr val="2D3142"/>
                </a:solidFill>
                <a:latin typeface="Calibri" pitchFamily="34" charset="0"/>
                <a:ea typeface="Calibri" pitchFamily="34" charset="-122"/>
                <a:cs typeface="Calibri" pitchFamily="34" charset="-120"/>
              </a:rPr>
              <a:t>You acted on it — at least once.</a:t>
            </a:r>
            <a:endParaRPr lang="en-US" sz="1200" dirty="0"/>
          </a:p>
        </p:txBody>
      </p:sp>
      <p:sp>
        <p:nvSpPr>
          <p:cNvPr id="13" name="Shape 11"/>
          <p:cNvSpPr/>
          <p:nvPr/>
        </p:nvSpPr>
        <p:spPr>
          <a:xfrm>
            <a:off x="457200" y="2606040"/>
            <a:ext cx="8229600" cy="594360"/>
          </a:xfrm>
          <a:prstGeom prst="rect">
            <a:avLst/>
          </a:prstGeom>
          <a:solidFill>
            <a:srgbClr val="F5F1EA"/>
          </a:solidFill>
          <a:ln w="12700">
            <a:solidFill>
              <a:srgbClr val="F5F1EA"/>
            </a:solidFill>
            <a:prstDash val="solid"/>
          </a:ln>
        </p:spPr>
        <p:txBody>
          <a:bodyPr/>
          <a:lstStyle/>
          <a:p>
            <a:endParaRPr lang="en-US"/>
          </a:p>
        </p:txBody>
      </p:sp>
      <p:sp>
        <p:nvSpPr>
          <p:cNvPr id="14" name="Text 12"/>
          <p:cNvSpPr/>
          <p:nvPr/>
        </p:nvSpPr>
        <p:spPr>
          <a:xfrm>
            <a:off x="640080" y="2606040"/>
            <a:ext cx="1737360" cy="594360"/>
          </a:xfrm>
          <a:prstGeom prst="rect">
            <a:avLst/>
          </a:prstGeom>
          <a:noFill/>
          <a:ln/>
        </p:spPr>
        <p:txBody>
          <a:bodyPr wrap="square" lIns="0" tIns="0" rIns="0" bIns="0" rtlCol="0" anchor="ctr"/>
          <a:lstStyle/>
          <a:p>
            <a:pPr marL="0" indent="0">
              <a:buNone/>
            </a:pPr>
            <a:r>
              <a:rPr lang="en-US" sz="1400" b="1" dirty="0">
                <a:solidFill>
                  <a:srgbClr val="2F5061"/>
                </a:solidFill>
                <a:latin typeface="Georgia" pitchFamily="34" charset="0"/>
                <a:ea typeface="Georgia" pitchFamily="34" charset="-122"/>
                <a:cs typeface="Georgia" pitchFamily="34" charset="-120"/>
              </a:rPr>
              <a:t>Valuing</a:t>
            </a:r>
            <a:endParaRPr lang="en-US" sz="1400" dirty="0"/>
          </a:p>
        </p:txBody>
      </p:sp>
      <p:sp>
        <p:nvSpPr>
          <p:cNvPr id="15" name="Text 13"/>
          <p:cNvSpPr/>
          <p:nvPr/>
        </p:nvSpPr>
        <p:spPr>
          <a:xfrm>
            <a:off x="2468880" y="2606040"/>
            <a:ext cx="3474720" cy="594360"/>
          </a:xfrm>
          <a:prstGeom prst="rect">
            <a:avLst/>
          </a:prstGeom>
          <a:noFill/>
          <a:ln/>
        </p:spPr>
        <p:txBody>
          <a:bodyPr wrap="square" lIns="0" tIns="0" rIns="0" bIns="0" rtlCol="0" anchor="ctr"/>
          <a:lstStyle/>
          <a:p>
            <a:pPr marL="0" indent="0">
              <a:buNone/>
            </a:pPr>
            <a:r>
              <a:rPr lang="en-US" sz="1200" i="1" dirty="0">
                <a:solidFill>
                  <a:srgbClr val="2D3142"/>
                </a:solidFill>
                <a:latin typeface="Calibri" pitchFamily="34" charset="0"/>
                <a:ea typeface="Calibri" pitchFamily="34" charset="-122"/>
                <a:cs typeface="Calibri" pitchFamily="34" charset="-120"/>
              </a:rPr>
              <a:t>"Your word I have treasured in my heart"</a:t>
            </a:r>
            <a:endParaRPr lang="en-US" sz="1200" dirty="0"/>
          </a:p>
          <a:p>
            <a:pPr marL="0" indent="0">
              <a:buNone/>
            </a:pPr>
            <a:r>
              <a:rPr lang="en-US" sz="1000" b="1" dirty="0">
                <a:solidFill>
                  <a:srgbClr val="7FA49A"/>
                </a:solidFill>
                <a:latin typeface="Calibri" pitchFamily="34" charset="0"/>
                <a:ea typeface="Calibri" pitchFamily="34" charset="-122"/>
                <a:cs typeface="Calibri" pitchFamily="34" charset="-120"/>
              </a:rPr>
              <a:t>Psalm 119:11</a:t>
            </a:r>
            <a:endParaRPr lang="en-US" sz="1200" dirty="0"/>
          </a:p>
        </p:txBody>
      </p:sp>
      <p:sp>
        <p:nvSpPr>
          <p:cNvPr id="16" name="Text 14"/>
          <p:cNvSpPr/>
          <p:nvPr/>
        </p:nvSpPr>
        <p:spPr>
          <a:xfrm>
            <a:off x="6035040" y="2606040"/>
            <a:ext cx="2834640" cy="594360"/>
          </a:xfrm>
          <a:prstGeom prst="rect">
            <a:avLst/>
          </a:prstGeom>
          <a:noFill/>
          <a:ln/>
        </p:spPr>
        <p:txBody>
          <a:bodyPr wrap="square" lIns="0" tIns="0" rIns="0" bIns="0" rtlCol="0" anchor="ctr"/>
          <a:lstStyle/>
          <a:p>
            <a:pPr marL="0" indent="0">
              <a:buNone/>
            </a:pPr>
            <a:r>
              <a:rPr lang="en-US" sz="1200" dirty="0">
                <a:solidFill>
                  <a:srgbClr val="2D3142"/>
                </a:solidFill>
                <a:latin typeface="Calibri" pitchFamily="34" charset="0"/>
                <a:ea typeface="Calibri" pitchFamily="34" charset="-122"/>
                <a:cs typeface="Calibri" pitchFamily="34" charset="-120"/>
              </a:rPr>
              <a:t>You look for it. Your affections have turned.</a:t>
            </a:r>
            <a:endParaRPr lang="en-US" sz="1200" dirty="0"/>
          </a:p>
        </p:txBody>
      </p:sp>
      <p:sp>
        <p:nvSpPr>
          <p:cNvPr id="17" name="Text 15"/>
          <p:cNvSpPr/>
          <p:nvPr/>
        </p:nvSpPr>
        <p:spPr>
          <a:xfrm>
            <a:off x="640080" y="3246120"/>
            <a:ext cx="1737360" cy="594360"/>
          </a:xfrm>
          <a:prstGeom prst="rect">
            <a:avLst/>
          </a:prstGeom>
          <a:noFill/>
          <a:ln/>
        </p:spPr>
        <p:txBody>
          <a:bodyPr wrap="square" lIns="0" tIns="0" rIns="0" bIns="0" rtlCol="0" anchor="ctr"/>
          <a:lstStyle/>
          <a:p>
            <a:pPr marL="0" indent="0">
              <a:buNone/>
            </a:pPr>
            <a:r>
              <a:rPr lang="en-US" sz="1400" b="1" dirty="0">
                <a:solidFill>
                  <a:srgbClr val="2F5061"/>
                </a:solidFill>
                <a:latin typeface="Georgia" pitchFamily="34" charset="0"/>
                <a:ea typeface="Georgia" pitchFamily="34" charset="-122"/>
                <a:cs typeface="Georgia" pitchFamily="34" charset="-120"/>
              </a:rPr>
              <a:t>Organizing</a:t>
            </a:r>
            <a:endParaRPr lang="en-US" sz="1400" dirty="0"/>
          </a:p>
        </p:txBody>
      </p:sp>
      <p:sp>
        <p:nvSpPr>
          <p:cNvPr id="18" name="Text 16"/>
          <p:cNvSpPr/>
          <p:nvPr/>
        </p:nvSpPr>
        <p:spPr>
          <a:xfrm>
            <a:off x="2468880" y="3246120"/>
            <a:ext cx="3474720" cy="594360"/>
          </a:xfrm>
          <a:prstGeom prst="rect">
            <a:avLst/>
          </a:prstGeom>
          <a:noFill/>
          <a:ln/>
        </p:spPr>
        <p:txBody>
          <a:bodyPr wrap="square" lIns="0" tIns="0" rIns="0" bIns="0" rtlCol="0" anchor="ctr"/>
          <a:lstStyle/>
          <a:p>
            <a:pPr marL="0" indent="0">
              <a:buNone/>
            </a:pPr>
            <a:r>
              <a:rPr lang="en-US" sz="1200" i="1" dirty="0">
                <a:solidFill>
                  <a:srgbClr val="2D3142"/>
                </a:solidFill>
                <a:latin typeface="Calibri" pitchFamily="34" charset="0"/>
                <a:ea typeface="Calibri" pitchFamily="34" charset="-122"/>
                <a:cs typeface="Calibri" pitchFamily="34" charset="-120"/>
              </a:rPr>
              <a:t>"Take every thought captive"</a:t>
            </a:r>
            <a:endParaRPr lang="en-US" sz="1200" dirty="0"/>
          </a:p>
          <a:p>
            <a:pPr marL="0" indent="0">
              <a:buNone/>
            </a:pPr>
            <a:r>
              <a:rPr lang="en-US" sz="1000" b="1" dirty="0">
                <a:solidFill>
                  <a:srgbClr val="7FA49A"/>
                </a:solidFill>
                <a:latin typeface="Calibri" pitchFamily="34" charset="0"/>
                <a:ea typeface="Calibri" pitchFamily="34" charset="-122"/>
                <a:cs typeface="Calibri" pitchFamily="34" charset="-120"/>
              </a:rPr>
              <a:t>2 Cor 10:5</a:t>
            </a:r>
            <a:endParaRPr lang="en-US" sz="1200" dirty="0"/>
          </a:p>
        </p:txBody>
      </p:sp>
      <p:sp>
        <p:nvSpPr>
          <p:cNvPr id="19" name="Text 17"/>
          <p:cNvSpPr/>
          <p:nvPr/>
        </p:nvSpPr>
        <p:spPr>
          <a:xfrm>
            <a:off x="6035040" y="3246120"/>
            <a:ext cx="2834640" cy="594360"/>
          </a:xfrm>
          <a:prstGeom prst="rect">
            <a:avLst/>
          </a:prstGeom>
          <a:noFill/>
          <a:ln/>
        </p:spPr>
        <p:txBody>
          <a:bodyPr wrap="square" lIns="0" tIns="0" rIns="0" bIns="0" rtlCol="0" anchor="ctr"/>
          <a:lstStyle/>
          <a:p>
            <a:pPr marL="0" indent="0">
              <a:buNone/>
            </a:pPr>
            <a:r>
              <a:rPr lang="en-US" sz="1200" dirty="0">
                <a:solidFill>
                  <a:srgbClr val="2D3142"/>
                </a:solidFill>
                <a:latin typeface="Calibri" pitchFamily="34" charset="0"/>
                <a:ea typeface="Calibri" pitchFamily="34" charset="-122"/>
                <a:cs typeface="Calibri" pitchFamily="34" charset="-120"/>
              </a:rPr>
              <a:t>It has cost you something and it stayed.</a:t>
            </a:r>
            <a:endParaRPr lang="en-US" sz="1200" dirty="0"/>
          </a:p>
        </p:txBody>
      </p:sp>
      <p:sp>
        <p:nvSpPr>
          <p:cNvPr id="20" name="Shape 18"/>
          <p:cNvSpPr/>
          <p:nvPr/>
        </p:nvSpPr>
        <p:spPr>
          <a:xfrm>
            <a:off x="457200" y="3886200"/>
            <a:ext cx="8229600" cy="594360"/>
          </a:xfrm>
          <a:prstGeom prst="rect">
            <a:avLst/>
          </a:prstGeom>
          <a:solidFill>
            <a:srgbClr val="F5F1EA"/>
          </a:solidFill>
          <a:ln w="12700">
            <a:solidFill>
              <a:srgbClr val="F5F1EA"/>
            </a:solidFill>
            <a:prstDash val="solid"/>
          </a:ln>
        </p:spPr>
        <p:txBody>
          <a:bodyPr/>
          <a:lstStyle/>
          <a:p>
            <a:endParaRPr lang="en-US"/>
          </a:p>
        </p:txBody>
      </p:sp>
      <p:sp>
        <p:nvSpPr>
          <p:cNvPr id="21" name="Text 19"/>
          <p:cNvSpPr/>
          <p:nvPr/>
        </p:nvSpPr>
        <p:spPr>
          <a:xfrm>
            <a:off x="640080" y="3886200"/>
            <a:ext cx="1737360" cy="594360"/>
          </a:xfrm>
          <a:prstGeom prst="rect">
            <a:avLst/>
          </a:prstGeom>
          <a:noFill/>
          <a:ln/>
        </p:spPr>
        <p:txBody>
          <a:bodyPr wrap="square" lIns="0" tIns="0" rIns="0" bIns="0" rtlCol="0" anchor="ctr"/>
          <a:lstStyle/>
          <a:p>
            <a:pPr marL="0" indent="0">
              <a:buNone/>
            </a:pPr>
            <a:r>
              <a:rPr lang="en-US" sz="1400" b="1" dirty="0">
                <a:solidFill>
                  <a:srgbClr val="2F5061"/>
                </a:solidFill>
                <a:latin typeface="Georgia" pitchFamily="34" charset="0"/>
                <a:ea typeface="Georgia" pitchFamily="34" charset="-122"/>
                <a:cs typeface="Georgia" pitchFamily="34" charset="-120"/>
              </a:rPr>
              <a:t>Character</a:t>
            </a:r>
            <a:endParaRPr lang="en-US" sz="1400" dirty="0"/>
          </a:p>
        </p:txBody>
      </p:sp>
      <p:sp>
        <p:nvSpPr>
          <p:cNvPr id="22" name="Text 20"/>
          <p:cNvSpPr/>
          <p:nvPr/>
        </p:nvSpPr>
        <p:spPr>
          <a:xfrm>
            <a:off x="2468880" y="3886200"/>
            <a:ext cx="3474720" cy="594360"/>
          </a:xfrm>
          <a:prstGeom prst="rect">
            <a:avLst/>
          </a:prstGeom>
          <a:noFill/>
          <a:ln/>
        </p:spPr>
        <p:txBody>
          <a:bodyPr wrap="square" lIns="0" tIns="0" rIns="0" bIns="0" rtlCol="0" anchor="ctr"/>
          <a:lstStyle/>
          <a:p>
            <a:pPr marL="0" indent="0">
              <a:buNone/>
            </a:pPr>
            <a:r>
              <a:rPr lang="en-US" sz="1200" i="1" dirty="0">
                <a:solidFill>
                  <a:srgbClr val="2D3142"/>
                </a:solidFill>
                <a:latin typeface="Calibri" pitchFamily="34" charset="0"/>
                <a:ea typeface="Calibri" pitchFamily="34" charset="-122"/>
                <a:cs typeface="Calibri" pitchFamily="34" charset="-120"/>
              </a:rPr>
              <a:t>"Not my will, but yours, be done"</a:t>
            </a:r>
            <a:endParaRPr lang="en-US" sz="1200" dirty="0"/>
          </a:p>
          <a:p>
            <a:pPr marL="0" indent="0">
              <a:buNone/>
            </a:pPr>
            <a:r>
              <a:rPr lang="en-US" sz="1000" b="1" dirty="0">
                <a:solidFill>
                  <a:srgbClr val="7FA49A"/>
                </a:solidFill>
                <a:latin typeface="Calibri" pitchFamily="34" charset="0"/>
                <a:ea typeface="Calibri" pitchFamily="34" charset="-122"/>
                <a:cs typeface="Calibri" pitchFamily="34" charset="-120"/>
              </a:rPr>
              <a:t>Luke 22:42</a:t>
            </a:r>
            <a:endParaRPr lang="en-US" sz="1200" dirty="0"/>
          </a:p>
        </p:txBody>
      </p:sp>
      <p:sp>
        <p:nvSpPr>
          <p:cNvPr id="23" name="Text 21"/>
          <p:cNvSpPr/>
          <p:nvPr/>
        </p:nvSpPr>
        <p:spPr>
          <a:xfrm>
            <a:off x="6035040" y="3886200"/>
            <a:ext cx="2834640" cy="594360"/>
          </a:xfrm>
          <a:prstGeom prst="rect">
            <a:avLst/>
          </a:prstGeom>
          <a:noFill/>
          <a:ln/>
        </p:spPr>
        <p:txBody>
          <a:bodyPr wrap="square" lIns="0" tIns="0" rIns="0" bIns="0" rtlCol="0" anchor="ctr"/>
          <a:lstStyle/>
          <a:p>
            <a:pPr marL="0" indent="0">
              <a:buNone/>
            </a:pPr>
            <a:r>
              <a:rPr lang="en-US" sz="1200" dirty="0">
                <a:solidFill>
                  <a:srgbClr val="2D3142"/>
                </a:solidFill>
                <a:latin typeface="Calibri" pitchFamily="34" charset="0"/>
                <a:ea typeface="Calibri" pitchFamily="34" charset="-122"/>
                <a:cs typeface="Calibri" pitchFamily="34" charset="-120"/>
              </a:rPr>
              <a:t>It is who you are now.</a:t>
            </a:r>
            <a:endParaRPr lang="en-US" sz="1200" dirty="0"/>
          </a:p>
        </p:txBody>
      </p:sp>
      <p:sp>
        <p:nvSpPr>
          <p:cNvPr id="24" name="Text 22"/>
          <p:cNvSpPr/>
          <p:nvPr/>
        </p:nvSpPr>
        <p:spPr>
          <a:xfrm>
            <a:off x="457200" y="4681728"/>
            <a:ext cx="8229600" cy="320040"/>
          </a:xfrm>
          <a:prstGeom prst="rect">
            <a:avLst/>
          </a:prstGeom>
          <a:noFill/>
          <a:ln/>
        </p:spPr>
        <p:txBody>
          <a:bodyPr wrap="square" lIns="0" tIns="0" rIns="0" bIns="0" rtlCol="0" anchor="ctr"/>
          <a:lstStyle/>
          <a:p>
            <a:pPr marL="0" indent="0" algn="ctr">
              <a:buNone/>
            </a:pPr>
            <a:r>
              <a:rPr lang="en-US" sz="1200" i="1" dirty="0">
                <a:solidFill>
                  <a:srgbClr val="C8981F"/>
                </a:solidFill>
                <a:latin typeface="Calibri" pitchFamily="34" charset="0"/>
                <a:ea typeface="Calibri" pitchFamily="34" charset="-122"/>
                <a:cs typeface="Calibri" pitchFamily="34" charset="-120"/>
              </a:rPr>
              <a:t>A person can be at Stage 1 on one matter and Stage 4 on another. The map is per-issue.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buNone/>
            </a:pPr>
            <a:r>
              <a:rPr lang="en-US" sz="2600" b="1" dirty="0">
                <a:solidFill>
                  <a:srgbClr val="2F5061"/>
                </a:solidFill>
                <a:latin typeface="Georgia" pitchFamily="34" charset="0"/>
                <a:ea typeface="Georgia" pitchFamily="34" charset="-122"/>
                <a:cs typeface="Georgia" pitchFamily="34" charset="-120"/>
              </a:rPr>
              <a:t>A worked example: forgiveness</a:t>
            </a:r>
            <a:endParaRPr lang="en-US" sz="2600" dirty="0"/>
          </a:p>
        </p:txBody>
      </p:sp>
      <p:sp>
        <p:nvSpPr>
          <p:cNvPr id="3" name="Text 1"/>
          <p:cNvSpPr/>
          <p:nvPr/>
        </p:nvSpPr>
        <p:spPr>
          <a:xfrm>
            <a:off x="457200" y="822960"/>
            <a:ext cx="8229600" cy="320040"/>
          </a:xfrm>
          <a:prstGeom prst="rect">
            <a:avLst/>
          </a:prstGeom>
          <a:noFill/>
          <a:ln/>
        </p:spPr>
        <p:txBody>
          <a:bodyPr wrap="square" lIns="0" tIns="0" rIns="0" bIns="0" rtlCol="0" anchor="ctr"/>
          <a:lstStyle/>
          <a:p>
            <a:pPr marL="0" indent="0">
              <a:buNone/>
            </a:pPr>
            <a:r>
              <a:rPr lang="en-US" sz="1200" b="1" i="1" dirty="0">
                <a:solidFill>
                  <a:srgbClr val="7FA49A"/>
                </a:solidFill>
                <a:latin typeface="Calibri" pitchFamily="34" charset="0"/>
                <a:ea typeface="Calibri" pitchFamily="34" charset="-122"/>
                <a:cs typeface="Calibri" pitchFamily="34" charset="-120"/>
              </a:rPr>
              <a:t>"If you forgive others their trespasses, your heavenly Father will also forgive you." — Matthew 6:14</a:t>
            </a:r>
            <a:endParaRPr lang="en-US" sz="1200" dirty="0"/>
          </a:p>
        </p:txBody>
      </p:sp>
      <p:sp>
        <p:nvSpPr>
          <p:cNvPr id="4" name="Shape 2"/>
          <p:cNvSpPr/>
          <p:nvPr/>
        </p:nvSpPr>
        <p:spPr>
          <a:xfrm>
            <a:off x="283464" y="1371600"/>
            <a:ext cx="1664208" cy="3154680"/>
          </a:xfrm>
          <a:prstGeom prst="rect">
            <a:avLst/>
          </a:prstGeom>
          <a:solidFill>
            <a:srgbClr val="F5F1EA"/>
          </a:solidFill>
          <a:ln w="12700">
            <a:solidFill>
              <a:srgbClr val="F5F1EA"/>
            </a:solidFill>
            <a:prstDash val="solid"/>
          </a:ln>
        </p:spPr>
        <p:txBody>
          <a:bodyPr/>
          <a:lstStyle/>
          <a:p>
            <a:endParaRPr lang="en-US"/>
          </a:p>
        </p:txBody>
      </p:sp>
      <p:sp>
        <p:nvSpPr>
          <p:cNvPr id="5" name="Shape 3"/>
          <p:cNvSpPr/>
          <p:nvPr/>
        </p:nvSpPr>
        <p:spPr>
          <a:xfrm>
            <a:off x="283464" y="1371600"/>
            <a:ext cx="1664208" cy="73152"/>
          </a:xfrm>
          <a:prstGeom prst="rect">
            <a:avLst/>
          </a:prstGeom>
          <a:solidFill>
            <a:srgbClr val="C8981F"/>
          </a:solidFill>
          <a:ln w="12700">
            <a:solidFill>
              <a:srgbClr val="C8981F"/>
            </a:solidFill>
            <a:prstDash val="solid"/>
          </a:ln>
        </p:spPr>
        <p:txBody>
          <a:bodyPr/>
          <a:lstStyle/>
          <a:p>
            <a:endParaRPr lang="en-US"/>
          </a:p>
        </p:txBody>
      </p:sp>
      <p:sp>
        <p:nvSpPr>
          <p:cNvPr id="6" name="Text 4"/>
          <p:cNvSpPr/>
          <p:nvPr/>
        </p:nvSpPr>
        <p:spPr>
          <a:xfrm>
            <a:off x="420624" y="1554480"/>
            <a:ext cx="640080" cy="457200"/>
          </a:xfrm>
          <a:prstGeom prst="rect">
            <a:avLst/>
          </a:prstGeom>
          <a:noFill/>
          <a:ln/>
        </p:spPr>
        <p:txBody>
          <a:bodyPr wrap="square" lIns="0" tIns="0" rIns="0" bIns="0" rtlCol="0" anchor="ctr"/>
          <a:lstStyle/>
          <a:p>
            <a:pPr marL="0" indent="0">
              <a:buNone/>
            </a:pPr>
            <a:r>
              <a:rPr lang="en-US" sz="3000" b="1" dirty="0">
                <a:solidFill>
                  <a:srgbClr val="2F5061"/>
                </a:solidFill>
                <a:latin typeface="Georgia" pitchFamily="34" charset="0"/>
                <a:ea typeface="Georgia" pitchFamily="34" charset="-122"/>
                <a:cs typeface="Georgia" pitchFamily="34" charset="-120"/>
              </a:rPr>
              <a:t>1</a:t>
            </a:r>
            <a:endParaRPr lang="en-US" sz="3000" dirty="0"/>
          </a:p>
        </p:txBody>
      </p:sp>
      <p:sp>
        <p:nvSpPr>
          <p:cNvPr id="7" name="Text 5"/>
          <p:cNvSpPr/>
          <p:nvPr/>
        </p:nvSpPr>
        <p:spPr>
          <a:xfrm>
            <a:off x="420624" y="2148840"/>
            <a:ext cx="1389888" cy="457200"/>
          </a:xfrm>
          <a:prstGeom prst="rect">
            <a:avLst/>
          </a:prstGeom>
          <a:noFill/>
          <a:ln/>
        </p:spPr>
        <p:txBody>
          <a:bodyPr wrap="square" lIns="0" tIns="0" rIns="0" bIns="0" rtlCol="0" anchor="ctr"/>
          <a:lstStyle/>
          <a:p>
            <a:pPr marL="0" indent="0">
              <a:buNone/>
            </a:pPr>
            <a:r>
              <a:rPr lang="en-US" sz="1300" b="1" dirty="0">
                <a:solidFill>
                  <a:srgbClr val="2F5061"/>
                </a:solidFill>
                <a:latin typeface="Georgia" pitchFamily="34" charset="0"/>
                <a:ea typeface="Georgia" pitchFamily="34" charset="-122"/>
                <a:cs typeface="Georgia" pitchFamily="34" charset="-120"/>
              </a:rPr>
              <a:t>Receiving</a:t>
            </a:r>
            <a:endParaRPr lang="en-US" sz="1300" dirty="0"/>
          </a:p>
        </p:txBody>
      </p:sp>
      <p:sp>
        <p:nvSpPr>
          <p:cNvPr id="8" name="Text 6"/>
          <p:cNvSpPr/>
          <p:nvPr/>
        </p:nvSpPr>
        <p:spPr>
          <a:xfrm>
            <a:off x="420624" y="2651760"/>
            <a:ext cx="1389888" cy="1737360"/>
          </a:xfrm>
          <a:prstGeom prst="rect">
            <a:avLst/>
          </a:prstGeom>
          <a:noFill/>
          <a:ln/>
        </p:spPr>
        <p:txBody>
          <a:bodyPr wrap="square" lIns="0" tIns="0" rIns="0" bIns="0" rtlCol="0" anchor="t"/>
          <a:lstStyle/>
          <a:p>
            <a:pPr marL="0" indent="0">
              <a:buNone/>
            </a:pPr>
            <a:r>
              <a:rPr lang="en-US" sz="1100" dirty="0">
                <a:solidFill>
                  <a:srgbClr val="2D3142"/>
                </a:solidFill>
                <a:latin typeface="Calibri" pitchFamily="34" charset="0"/>
                <a:ea typeface="Calibri" pitchFamily="34" charset="-122"/>
                <a:cs typeface="Calibri" pitchFamily="34" charset="-120"/>
              </a:rPr>
              <a:t>I hear the verse on Sunday. I nod.</a:t>
            </a:r>
            <a:endParaRPr lang="en-US" sz="1100" dirty="0"/>
          </a:p>
        </p:txBody>
      </p:sp>
      <p:sp>
        <p:nvSpPr>
          <p:cNvPr id="9" name="Shape 7"/>
          <p:cNvSpPr/>
          <p:nvPr/>
        </p:nvSpPr>
        <p:spPr>
          <a:xfrm>
            <a:off x="2011680" y="1371600"/>
            <a:ext cx="1664208" cy="3154680"/>
          </a:xfrm>
          <a:prstGeom prst="rect">
            <a:avLst/>
          </a:prstGeom>
          <a:solidFill>
            <a:srgbClr val="F5F1EA"/>
          </a:solidFill>
          <a:ln w="12700">
            <a:solidFill>
              <a:srgbClr val="F5F1EA"/>
            </a:solidFill>
            <a:prstDash val="solid"/>
          </a:ln>
        </p:spPr>
        <p:txBody>
          <a:bodyPr/>
          <a:lstStyle/>
          <a:p>
            <a:endParaRPr lang="en-US"/>
          </a:p>
        </p:txBody>
      </p:sp>
      <p:sp>
        <p:nvSpPr>
          <p:cNvPr id="10" name="Shape 8"/>
          <p:cNvSpPr/>
          <p:nvPr/>
        </p:nvSpPr>
        <p:spPr>
          <a:xfrm>
            <a:off x="2011680" y="1371600"/>
            <a:ext cx="1664208" cy="73152"/>
          </a:xfrm>
          <a:prstGeom prst="rect">
            <a:avLst/>
          </a:prstGeom>
          <a:solidFill>
            <a:srgbClr val="C8981F"/>
          </a:solidFill>
          <a:ln w="12700">
            <a:solidFill>
              <a:srgbClr val="C8981F"/>
            </a:solidFill>
            <a:prstDash val="solid"/>
          </a:ln>
        </p:spPr>
        <p:txBody>
          <a:bodyPr/>
          <a:lstStyle/>
          <a:p>
            <a:endParaRPr lang="en-US"/>
          </a:p>
        </p:txBody>
      </p:sp>
      <p:sp>
        <p:nvSpPr>
          <p:cNvPr id="11" name="Text 9"/>
          <p:cNvSpPr/>
          <p:nvPr/>
        </p:nvSpPr>
        <p:spPr>
          <a:xfrm>
            <a:off x="2148840" y="1554480"/>
            <a:ext cx="640080" cy="457200"/>
          </a:xfrm>
          <a:prstGeom prst="rect">
            <a:avLst/>
          </a:prstGeom>
          <a:noFill/>
          <a:ln/>
        </p:spPr>
        <p:txBody>
          <a:bodyPr wrap="square" lIns="0" tIns="0" rIns="0" bIns="0" rtlCol="0" anchor="ctr"/>
          <a:lstStyle/>
          <a:p>
            <a:pPr marL="0" indent="0">
              <a:buNone/>
            </a:pPr>
            <a:r>
              <a:rPr lang="en-US" sz="3000" b="1" dirty="0">
                <a:solidFill>
                  <a:srgbClr val="2F5061"/>
                </a:solidFill>
                <a:latin typeface="Georgia" pitchFamily="34" charset="0"/>
                <a:ea typeface="Georgia" pitchFamily="34" charset="-122"/>
                <a:cs typeface="Georgia" pitchFamily="34" charset="-120"/>
              </a:rPr>
              <a:t>2</a:t>
            </a:r>
            <a:endParaRPr lang="en-US" sz="3000" dirty="0"/>
          </a:p>
        </p:txBody>
      </p:sp>
      <p:sp>
        <p:nvSpPr>
          <p:cNvPr id="12" name="Text 10"/>
          <p:cNvSpPr/>
          <p:nvPr/>
        </p:nvSpPr>
        <p:spPr>
          <a:xfrm>
            <a:off x="2148840" y="2148840"/>
            <a:ext cx="1389888" cy="457200"/>
          </a:xfrm>
          <a:prstGeom prst="rect">
            <a:avLst/>
          </a:prstGeom>
          <a:noFill/>
          <a:ln/>
        </p:spPr>
        <p:txBody>
          <a:bodyPr wrap="square" lIns="0" tIns="0" rIns="0" bIns="0" rtlCol="0" anchor="ctr"/>
          <a:lstStyle/>
          <a:p>
            <a:pPr marL="0" indent="0">
              <a:buNone/>
            </a:pPr>
            <a:r>
              <a:rPr lang="en-US" sz="1300" b="1" dirty="0">
                <a:solidFill>
                  <a:srgbClr val="2F5061"/>
                </a:solidFill>
                <a:latin typeface="Georgia" pitchFamily="34" charset="0"/>
                <a:ea typeface="Georgia" pitchFamily="34" charset="-122"/>
                <a:cs typeface="Georgia" pitchFamily="34" charset="-120"/>
              </a:rPr>
              <a:t>Responding</a:t>
            </a:r>
            <a:endParaRPr lang="en-US" sz="1300" dirty="0"/>
          </a:p>
        </p:txBody>
      </p:sp>
      <p:sp>
        <p:nvSpPr>
          <p:cNvPr id="13" name="Text 11"/>
          <p:cNvSpPr/>
          <p:nvPr/>
        </p:nvSpPr>
        <p:spPr>
          <a:xfrm>
            <a:off x="2148840" y="2651760"/>
            <a:ext cx="1389888" cy="1737360"/>
          </a:xfrm>
          <a:prstGeom prst="rect">
            <a:avLst/>
          </a:prstGeom>
          <a:noFill/>
          <a:ln/>
        </p:spPr>
        <p:txBody>
          <a:bodyPr wrap="square" lIns="0" tIns="0" rIns="0" bIns="0" rtlCol="0" anchor="t"/>
          <a:lstStyle/>
          <a:p>
            <a:pPr marL="0" indent="0">
              <a:buNone/>
            </a:pPr>
            <a:r>
              <a:rPr lang="en-US" sz="1100" dirty="0">
                <a:solidFill>
                  <a:srgbClr val="2D3142"/>
                </a:solidFill>
                <a:latin typeface="Calibri" pitchFamily="34" charset="0"/>
                <a:ea typeface="Calibri" pitchFamily="34" charset="-122"/>
                <a:cs typeface="Calibri" pitchFamily="34" charset="-120"/>
              </a:rPr>
              <a:t>Someone wrongs me. I muscle through it. I say the words. The first time is always awkward.</a:t>
            </a:r>
            <a:endParaRPr lang="en-US" sz="1100" dirty="0"/>
          </a:p>
        </p:txBody>
      </p:sp>
      <p:sp>
        <p:nvSpPr>
          <p:cNvPr id="14" name="Shape 12"/>
          <p:cNvSpPr/>
          <p:nvPr/>
        </p:nvSpPr>
        <p:spPr>
          <a:xfrm>
            <a:off x="3739896" y="1371600"/>
            <a:ext cx="1664208" cy="3154680"/>
          </a:xfrm>
          <a:prstGeom prst="rect">
            <a:avLst/>
          </a:prstGeom>
          <a:solidFill>
            <a:srgbClr val="F5F1EA"/>
          </a:solidFill>
          <a:ln w="12700">
            <a:solidFill>
              <a:srgbClr val="F5F1EA"/>
            </a:solidFill>
            <a:prstDash val="solid"/>
          </a:ln>
        </p:spPr>
        <p:txBody>
          <a:bodyPr/>
          <a:lstStyle/>
          <a:p>
            <a:endParaRPr lang="en-US"/>
          </a:p>
        </p:txBody>
      </p:sp>
      <p:sp>
        <p:nvSpPr>
          <p:cNvPr id="15" name="Shape 13"/>
          <p:cNvSpPr/>
          <p:nvPr/>
        </p:nvSpPr>
        <p:spPr>
          <a:xfrm>
            <a:off x="3739896" y="1371600"/>
            <a:ext cx="1664208" cy="73152"/>
          </a:xfrm>
          <a:prstGeom prst="rect">
            <a:avLst/>
          </a:prstGeom>
          <a:solidFill>
            <a:srgbClr val="C8981F"/>
          </a:solidFill>
          <a:ln w="12700">
            <a:solidFill>
              <a:srgbClr val="C8981F"/>
            </a:solidFill>
            <a:prstDash val="solid"/>
          </a:ln>
        </p:spPr>
        <p:txBody>
          <a:bodyPr/>
          <a:lstStyle/>
          <a:p>
            <a:endParaRPr lang="en-US"/>
          </a:p>
        </p:txBody>
      </p:sp>
      <p:sp>
        <p:nvSpPr>
          <p:cNvPr id="16" name="Text 14"/>
          <p:cNvSpPr/>
          <p:nvPr/>
        </p:nvSpPr>
        <p:spPr>
          <a:xfrm>
            <a:off x="3877056" y="1554480"/>
            <a:ext cx="640080" cy="457200"/>
          </a:xfrm>
          <a:prstGeom prst="rect">
            <a:avLst/>
          </a:prstGeom>
          <a:noFill/>
          <a:ln/>
        </p:spPr>
        <p:txBody>
          <a:bodyPr wrap="square" lIns="0" tIns="0" rIns="0" bIns="0" rtlCol="0" anchor="ctr"/>
          <a:lstStyle/>
          <a:p>
            <a:pPr marL="0" indent="0">
              <a:buNone/>
            </a:pPr>
            <a:r>
              <a:rPr lang="en-US" sz="3000" b="1" dirty="0">
                <a:solidFill>
                  <a:srgbClr val="2F5061"/>
                </a:solidFill>
                <a:latin typeface="Georgia" pitchFamily="34" charset="0"/>
                <a:ea typeface="Georgia" pitchFamily="34" charset="-122"/>
                <a:cs typeface="Georgia" pitchFamily="34" charset="-120"/>
              </a:rPr>
              <a:t>3</a:t>
            </a:r>
            <a:endParaRPr lang="en-US" sz="3000" dirty="0"/>
          </a:p>
        </p:txBody>
      </p:sp>
      <p:sp>
        <p:nvSpPr>
          <p:cNvPr id="17" name="Text 15"/>
          <p:cNvSpPr/>
          <p:nvPr/>
        </p:nvSpPr>
        <p:spPr>
          <a:xfrm>
            <a:off x="3877056" y="2148840"/>
            <a:ext cx="1389888" cy="457200"/>
          </a:xfrm>
          <a:prstGeom prst="rect">
            <a:avLst/>
          </a:prstGeom>
          <a:noFill/>
          <a:ln/>
        </p:spPr>
        <p:txBody>
          <a:bodyPr wrap="square" lIns="0" tIns="0" rIns="0" bIns="0" rtlCol="0" anchor="ctr"/>
          <a:lstStyle/>
          <a:p>
            <a:pPr marL="0" indent="0">
              <a:buNone/>
            </a:pPr>
            <a:r>
              <a:rPr lang="en-US" sz="1300" b="1" dirty="0">
                <a:solidFill>
                  <a:srgbClr val="2F5061"/>
                </a:solidFill>
                <a:latin typeface="Georgia" pitchFamily="34" charset="0"/>
                <a:ea typeface="Georgia" pitchFamily="34" charset="-122"/>
                <a:cs typeface="Georgia" pitchFamily="34" charset="-120"/>
              </a:rPr>
              <a:t>Valuing</a:t>
            </a:r>
            <a:endParaRPr lang="en-US" sz="1300" dirty="0"/>
          </a:p>
        </p:txBody>
      </p:sp>
      <p:sp>
        <p:nvSpPr>
          <p:cNvPr id="18" name="Text 16"/>
          <p:cNvSpPr/>
          <p:nvPr/>
        </p:nvSpPr>
        <p:spPr>
          <a:xfrm>
            <a:off x="3877056" y="2651760"/>
            <a:ext cx="1389888" cy="1737360"/>
          </a:xfrm>
          <a:prstGeom prst="rect">
            <a:avLst/>
          </a:prstGeom>
          <a:noFill/>
          <a:ln/>
        </p:spPr>
        <p:txBody>
          <a:bodyPr wrap="square" lIns="0" tIns="0" rIns="0" bIns="0" rtlCol="0" anchor="t"/>
          <a:lstStyle/>
          <a:p>
            <a:pPr marL="0" indent="0">
              <a:buNone/>
            </a:pPr>
            <a:r>
              <a:rPr lang="en-US" sz="1100" dirty="0">
                <a:solidFill>
                  <a:srgbClr val="2D3142"/>
                </a:solidFill>
                <a:latin typeface="Calibri" pitchFamily="34" charset="0"/>
                <a:ea typeface="Calibri" pitchFamily="34" charset="-122"/>
                <a:cs typeface="Calibri" pitchFamily="34" charset="-120"/>
              </a:rPr>
              <a:t>I begin to see unforgiveness — in others, in myself. I hate it. I notice when I am holding on.</a:t>
            </a:r>
            <a:endParaRPr lang="en-US" sz="1100" dirty="0"/>
          </a:p>
        </p:txBody>
      </p:sp>
      <p:sp>
        <p:nvSpPr>
          <p:cNvPr id="19" name="Shape 17"/>
          <p:cNvSpPr/>
          <p:nvPr/>
        </p:nvSpPr>
        <p:spPr>
          <a:xfrm>
            <a:off x="5468112" y="1371600"/>
            <a:ext cx="1664208" cy="3154680"/>
          </a:xfrm>
          <a:prstGeom prst="rect">
            <a:avLst/>
          </a:prstGeom>
          <a:solidFill>
            <a:srgbClr val="F5F1EA"/>
          </a:solidFill>
          <a:ln w="12700">
            <a:solidFill>
              <a:srgbClr val="F5F1EA"/>
            </a:solidFill>
            <a:prstDash val="solid"/>
          </a:ln>
        </p:spPr>
        <p:txBody>
          <a:bodyPr/>
          <a:lstStyle/>
          <a:p>
            <a:endParaRPr lang="en-US"/>
          </a:p>
        </p:txBody>
      </p:sp>
      <p:sp>
        <p:nvSpPr>
          <p:cNvPr id="20" name="Shape 18"/>
          <p:cNvSpPr/>
          <p:nvPr/>
        </p:nvSpPr>
        <p:spPr>
          <a:xfrm>
            <a:off x="5468112" y="1371600"/>
            <a:ext cx="1664208" cy="73152"/>
          </a:xfrm>
          <a:prstGeom prst="rect">
            <a:avLst/>
          </a:prstGeom>
          <a:solidFill>
            <a:srgbClr val="C8981F"/>
          </a:solidFill>
          <a:ln w="12700">
            <a:solidFill>
              <a:srgbClr val="C8981F"/>
            </a:solidFill>
            <a:prstDash val="solid"/>
          </a:ln>
        </p:spPr>
        <p:txBody>
          <a:bodyPr/>
          <a:lstStyle/>
          <a:p>
            <a:endParaRPr lang="en-US"/>
          </a:p>
        </p:txBody>
      </p:sp>
      <p:sp>
        <p:nvSpPr>
          <p:cNvPr id="21" name="Text 19"/>
          <p:cNvSpPr/>
          <p:nvPr/>
        </p:nvSpPr>
        <p:spPr>
          <a:xfrm>
            <a:off x="5605272" y="1554480"/>
            <a:ext cx="640080" cy="457200"/>
          </a:xfrm>
          <a:prstGeom prst="rect">
            <a:avLst/>
          </a:prstGeom>
          <a:noFill/>
          <a:ln/>
        </p:spPr>
        <p:txBody>
          <a:bodyPr wrap="square" lIns="0" tIns="0" rIns="0" bIns="0" rtlCol="0" anchor="ctr"/>
          <a:lstStyle/>
          <a:p>
            <a:pPr marL="0" indent="0">
              <a:buNone/>
            </a:pPr>
            <a:r>
              <a:rPr lang="en-US" sz="3000" b="1" dirty="0">
                <a:solidFill>
                  <a:srgbClr val="2F5061"/>
                </a:solidFill>
                <a:latin typeface="Georgia" pitchFamily="34" charset="0"/>
                <a:ea typeface="Georgia" pitchFamily="34" charset="-122"/>
                <a:cs typeface="Georgia" pitchFamily="34" charset="-120"/>
              </a:rPr>
              <a:t>4</a:t>
            </a:r>
            <a:endParaRPr lang="en-US" sz="3000" dirty="0"/>
          </a:p>
        </p:txBody>
      </p:sp>
      <p:sp>
        <p:nvSpPr>
          <p:cNvPr id="22" name="Text 20"/>
          <p:cNvSpPr/>
          <p:nvPr/>
        </p:nvSpPr>
        <p:spPr>
          <a:xfrm>
            <a:off x="5605272" y="2148840"/>
            <a:ext cx="1389888" cy="457200"/>
          </a:xfrm>
          <a:prstGeom prst="rect">
            <a:avLst/>
          </a:prstGeom>
          <a:noFill/>
          <a:ln/>
        </p:spPr>
        <p:txBody>
          <a:bodyPr wrap="square" lIns="0" tIns="0" rIns="0" bIns="0" rtlCol="0" anchor="ctr"/>
          <a:lstStyle/>
          <a:p>
            <a:pPr marL="0" indent="0">
              <a:buNone/>
            </a:pPr>
            <a:r>
              <a:rPr lang="en-US" sz="1300" b="1" dirty="0">
                <a:solidFill>
                  <a:srgbClr val="2F5061"/>
                </a:solidFill>
                <a:latin typeface="Georgia" pitchFamily="34" charset="0"/>
                <a:ea typeface="Georgia" pitchFamily="34" charset="-122"/>
                <a:cs typeface="Georgia" pitchFamily="34" charset="-120"/>
              </a:rPr>
              <a:t>Organizing</a:t>
            </a:r>
            <a:endParaRPr lang="en-US" sz="1300" dirty="0"/>
          </a:p>
        </p:txBody>
      </p:sp>
      <p:sp>
        <p:nvSpPr>
          <p:cNvPr id="23" name="Text 21"/>
          <p:cNvSpPr/>
          <p:nvPr/>
        </p:nvSpPr>
        <p:spPr>
          <a:xfrm>
            <a:off x="5605272" y="2651760"/>
            <a:ext cx="1389888" cy="1737360"/>
          </a:xfrm>
          <a:prstGeom prst="rect">
            <a:avLst/>
          </a:prstGeom>
          <a:noFill/>
          <a:ln/>
        </p:spPr>
        <p:txBody>
          <a:bodyPr wrap="square" lIns="0" tIns="0" rIns="0" bIns="0" rtlCol="0" anchor="t"/>
          <a:lstStyle/>
          <a:p>
            <a:pPr marL="0" indent="0">
              <a:buNone/>
            </a:pPr>
            <a:r>
              <a:rPr lang="en-US" sz="1100" dirty="0">
                <a:solidFill>
                  <a:srgbClr val="2D3142"/>
                </a:solidFill>
                <a:latin typeface="Calibri" pitchFamily="34" charset="0"/>
                <a:ea typeface="Calibri" pitchFamily="34" charset="-122"/>
                <a:cs typeface="Calibri" pitchFamily="34" charset="-120"/>
              </a:rPr>
              <a:t>Forgiveness now shapes how I take correction, how I raise my kids, how I grieve. It sometimes rubs against other values, and I have to work it out.</a:t>
            </a:r>
            <a:endParaRPr lang="en-US" sz="1100" dirty="0"/>
          </a:p>
        </p:txBody>
      </p:sp>
      <p:sp>
        <p:nvSpPr>
          <p:cNvPr id="24" name="Shape 22"/>
          <p:cNvSpPr/>
          <p:nvPr/>
        </p:nvSpPr>
        <p:spPr>
          <a:xfrm>
            <a:off x="7196328" y="1371600"/>
            <a:ext cx="1664208" cy="3154680"/>
          </a:xfrm>
          <a:prstGeom prst="rect">
            <a:avLst/>
          </a:prstGeom>
          <a:solidFill>
            <a:srgbClr val="2F5061"/>
          </a:solidFill>
          <a:ln w="12700">
            <a:solidFill>
              <a:srgbClr val="2F5061"/>
            </a:solidFill>
            <a:prstDash val="solid"/>
          </a:ln>
        </p:spPr>
        <p:txBody>
          <a:bodyPr/>
          <a:lstStyle/>
          <a:p>
            <a:endParaRPr lang="en-US"/>
          </a:p>
        </p:txBody>
      </p:sp>
      <p:sp>
        <p:nvSpPr>
          <p:cNvPr id="25" name="Shape 23"/>
          <p:cNvSpPr/>
          <p:nvPr/>
        </p:nvSpPr>
        <p:spPr>
          <a:xfrm>
            <a:off x="7196328" y="1371600"/>
            <a:ext cx="1664208" cy="73152"/>
          </a:xfrm>
          <a:prstGeom prst="rect">
            <a:avLst/>
          </a:prstGeom>
          <a:solidFill>
            <a:srgbClr val="C8981F"/>
          </a:solidFill>
          <a:ln w="12700">
            <a:solidFill>
              <a:srgbClr val="C8981F"/>
            </a:solidFill>
            <a:prstDash val="solid"/>
          </a:ln>
        </p:spPr>
        <p:txBody>
          <a:bodyPr/>
          <a:lstStyle/>
          <a:p>
            <a:endParaRPr lang="en-US"/>
          </a:p>
        </p:txBody>
      </p:sp>
      <p:sp>
        <p:nvSpPr>
          <p:cNvPr id="26" name="Text 24"/>
          <p:cNvSpPr/>
          <p:nvPr/>
        </p:nvSpPr>
        <p:spPr>
          <a:xfrm>
            <a:off x="7333488" y="1554480"/>
            <a:ext cx="640080" cy="457200"/>
          </a:xfrm>
          <a:prstGeom prst="rect">
            <a:avLst/>
          </a:prstGeom>
          <a:noFill/>
          <a:ln/>
        </p:spPr>
        <p:txBody>
          <a:bodyPr wrap="square" lIns="0" tIns="0" rIns="0" bIns="0" rtlCol="0" anchor="ctr"/>
          <a:lstStyle/>
          <a:p>
            <a:pPr marL="0" indent="0">
              <a:buNone/>
            </a:pPr>
            <a:r>
              <a:rPr lang="en-US" sz="3000" b="1" dirty="0">
                <a:solidFill>
                  <a:srgbClr val="C8981F"/>
                </a:solidFill>
                <a:latin typeface="Georgia" pitchFamily="34" charset="0"/>
                <a:ea typeface="Georgia" pitchFamily="34" charset="-122"/>
                <a:cs typeface="Georgia" pitchFamily="34" charset="-120"/>
              </a:rPr>
              <a:t>5</a:t>
            </a:r>
            <a:endParaRPr lang="en-US" sz="3000" dirty="0"/>
          </a:p>
        </p:txBody>
      </p:sp>
      <p:sp>
        <p:nvSpPr>
          <p:cNvPr id="27" name="Text 25"/>
          <p:cNvSpPr/>
          <p:nvPr/>
        </p:nvSpPr>
        <p:spPr>
          <a:xfrm>
            <a:off x="7333488" y="2148840"/>
            <a:ext cx="1389888" cy="45720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Character</a:t>
            </a:r>
            <a:endParaRPr lang="en-US" sz="1300" dirty="0"/>
          </a:p>
        </p:txBody>
      </p:sp>
      <p:sp>
        <p:nvSpPr>
          <p:cNvPr id="28" name="Text 26"/>
          <p:cNvSpPr/>
          <p:nvPr/>
        </p:nvSpPr>
        <p:spPr>
          <a:xfrm>
            <a:off x="7333488" y="2651760"/>
            <a:ext cx="1389888" cy="1737360"/>
          </a:xfrm>
          <a:prstGeom prst="rect">
            <a:avLst/>
          </a:prstGeom>
          <a:noFill/>
          <a:ln/>
        </p:spPr>
        <p:txBody>
          <a:bodyPr wrap="square" lIns="0" tIns="0" rIns="0" bIns="0" rtlCol="0" anchor="t"/>
          <a:lstStyle/>
          <a:p>
            <a:pPr marL="0" indent="0">
              <a:buNone/>
            </a:pPr>
            <a:r>
              <a:rPr lang="en-US" sz="1100" dirty="0">
                <a:solidFill>
                  <a:srgbClr val="E8E3D5"/>
                </a:solidFill>
                <a:latin typeface="Calibri" pitchFamily="34" charset="0"/>
                <a:ea typeface="Calibri" pitchFamily="34" charset="-122"/>
                <a:cs typeface="Calibri" pitchFamily="34" charset="-120"/>
              </a:rPr>
              <a:t>I forgive by default. It is no longer a decision I have to make each time. It is who I am.</a:t>
            </a:r>
            <a:endParaRPr lang="en-US" sz="1100" dirty="0"/>
          </a:p>
        </p:txBody>
      </p:sp>
      <p:sp>
        <p:nvSpPr>
          <p:cNvPr id="29" name="Text 27"/>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200" i="1" dirty="0">
                <a:solidFill>
                  <a:srgbClr val="C8981F"/>
                </a:solidFill>
                <a:latin typeface="Calibri" pitchFamily="34" charset="0"/>
                <a:ea typeface="Calibri" pitchFamily="34" charset="-122"/>
                <a:cs typeface="Calibri" pitchFamily="34" charset="-120"/>
              </a:rPr>
              <a:t>This is one verse moving through one life. Now try it on a verse of your own.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2600" b="1" dirty="0">
                <a:solidFill>
                  <a:srgbClr val="2F5061"/>
                </a:solidFill>
                <a:latin typeface="Georgia" pitchFamily="34" charset="0"/>
                <a:ea typeface="Georgia" pitchFamily="34" charset="-122"/>
                <a:cs typeface="Georgia" pitchFamily="34" charset="-120"/>
              </a:rPr>
              <a:t>What this could look like, on a Tuesday night</a:t>
            </a:r>
            <a:endParaRPr lang="en-US" sz="2600" dirty="0"/>
          </a:p>
        </p:txBody>
      </p:sp>
      <p:sp>
        <p:nvSpPr>
          <p:cNvPr id="3" name="Shape 1"/>
          <p:cNvSpPr/>
          <p:nvPr/>
        </p:nvSpPr>
        <p:spPr>
          <a:xfrm>
            <a:off x="457200" y="1188720"/>
            <a:ext cx="3017520" cy="3291840"/>
          </a:xfrm>
          <a:prstGeom prst="rect">
            <a:avLst/>
          </a:prstGeom>
          <a:solidFill>
            <a:srgbClr val="F5F1EA"/>
          </a:solidFill>
          <a:ln w="12700">
            <a:solidFill>
              <a:srgbClr val="7A8A9C"/>
            </a:solidFill>
            <a:prstDash val="dash"/>
          </a:ln>
        </p:spPr>
        <p:txBody>
          <a:bodyPr/>
          <a:lstStyle/>
          <a:p>
            <a:endParaRPr lang="en-US"/>
          </a:p>
        </p:txBody>
      </p:sp>
      <p:sp>
        <p:nvSpPr>
          <p:cNvPr id="4" name="Text 2"/>
          <p:cNvSpPr/>
          <p:nvPr/>
        </p:nvSpPr>
        <p:spPr>
          <a:xfrm>
            <a:off x="457200" y="2670048"/>
            <a:ext cx="3017520" cy="329184"/>
          </a:xfrm>
          <a:prstGeom prst="rect">
            <a:avLst/>
          </a:prstGeom>
          <a:noFill/>
          <a:ln/>
        </p:spPr>
        <p:txBody>
          <a:bodyPr wrap="square" rtlCol="0" anchor="ctr"/>
          <a:lstStyle/>
          <a:p>
            <a:pPr marL="0" indent="0" algn="ctr">
              <a:buNone/>
            </a:pPr>
            <a:r>
              <a:rPr lang="en-US" sz="1100" i="1" dirty="0">
                <a:solidFill>
                  <a:srgbClr val="7A8A9C"/>
                </a:solidFill>
                <a:latin typeface="Calibri" pitchFamily="34" charset="0"/>
                <a:ea typeface="Calibri" pitchFamily="34" charset="-122"/>
                <a:cs typeface="Calibri" pitchFamily="34" charset="-120"/>
              </a:rPr>
              <a:t>Photo of small group</a:t>
            </a:r>
            <a:endParaRPr lang="en-US" sz="1100" dirty="0"/>
          </a:p>
          <a:p>
            <a:pPr marL="0" indent="0" algn="ctr">
              <a:buNone/>
            </a:pPr>
            <a:r>
              <a:rPr lang="en-US" sz="1100" i="1" dirty="0">
                <a:solidFill>
                  <a:srgbClr val="7A8A9C"/>
                </a:solidFill>
                <a:latin typeface="Calibri" pitchFamily="34" charset="0"/>
                <a:ea typeface="Calibri" pitchFamily="34" charset="-122"/>
                <a:cs typeface="Calibri" pitchFamily="34" charset="-120"/>
              </a:rPr>
              <a:t>or your community</a:t>
            </a:r>
            <a:endParaRPr lang="en-US" sz="1100" dirty="0"/>
          </a:p>
          <a:p>
            <a:pPr marL="0" indent="0" algn="ctr">
              <a:buNone/>
            </a:pPr>
            <a:r>
              <a:rPr lang="en-US" sz="1100" i="1" dirty="0">
                <a:solidFill>
                  <a:srgbClr val="7A8A9C"/>
                </a:solidFill>
                <a:latin typeface="Calibri" pitchFamily="34" charset="0"/>
                <a:ea typeface="Calibri" pitchFamily="34" charset="-122"/>
                <a:cs typeface="Calibri" pitchFamily="34" charset="-120"/>
              </a:rPr>
              <a:t>(swap in)</a:t>
            </a:r>
            <a:endParaRPr lang="en-US" sz="1100" dirty="0"/>
          </a:p>
        </p:txBody>
      </p:sp>
      <p:sp>
        <p:nvSpPr>
          <p:cNvPr id="5" name="Text 3"/>
          <p:cNvSpPr/>
          <p:nvPr/>
        </p:nvSpPr>
        <p:spPr>
          <a:xfrm>
            <a:off x="3749040" y="1188720"/>
            <a:ext cx="411480" cy="621792"/>
          </a:xfrm>
          <a:prstGeom prst="rect">
            <a:avLst/>
          </a:prstGeom>
          <a:noFill/>
          <a:ln/>
        </p:spPr>
        <p:txBody>
          <a:bodyPr wrap="square" lIns="0" tIns="0" rIns="0" bIns="0" rtlCol="0" anchor="ctr"/>
          <a:lstStyle/>
          <a:p>
            <a:pPr marL="0" indent="0">
              <a:buNone/>
            </a:pPr>
            <a:r>
              <a:rPr lang="en-US" sz="2200" b="1" dirty="0">
                <a:solidFill>
                  <a:srgbClr val="C8981F"/>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4251960" y="1188720"/>
            <a:ext cx="4663440" cy="621792"/>
          </a:xfrm>
          <a:prstGeom prst="rect">
            <a:avLst/>
          </a:prstGeom>
          <a:noFill/>
          <a:ln/>
        </p:spPr>
        <p:txBody>
          <a:bodyPr wrap="square" lIns="0" tIns="0" rIns="0" bIns="0" rtlCol="0" anchor="ctr"/>
          <a:lstStyle/>
          <a:p>
            <a:pPr marL="0" indent="0">
              <a:buNone/>
            </a:pPr>
            <a:r>
              <a:rPr lang="en-US" sz="1400" b="1" dirty="0">
                <a:solidFill>
                  <a:srgbClr val="2F5061"/>
                </a:solidFill>
                <a:latin typeface="Calibri" pitchFamily="34" charset="0"/>
                <a:ea typeface="Calibri" pitchFamily="34" charset="-122"/>
                <a:cs typeface="Calibri" pitchFamily="34" charset="-120"/>
              </a:rPr>
              <a:t>Pick one passage</a:t>
            </a:r>
            <a:endParaRPr lang="en-US" sz="1400" dirty="0"/>
          </a:p>
          <a:p>
            <a:pPr marL="0" indent="0">
              <a:buNone/>
            </a:pPr>
            <a:r>
              <a:rPr lang="en-US" sz="1200" dirty="0">
                <a:solidFill>
                  <a:srgbClr val="2D3142"/>
                </a:solidFill>
                <a:latin typeface="Calibri" pitchFamily="34" charset="0"/>
                <a:ea typeface="Calibri" pitchFamily="34" charset="-122"/>
                <a:cs typeface="Calibri" pitchFamily="34" charset="-120"/>
              </a:rPr>
              <a:t>Something the group has been sitting with. Not a new one.</a:t>
            </a:r>
            <a:endParaRPr lang="en-US" sz="1400" dirty="0"/>
          </a:p>
        </p:txBody>
      </p:sp>
      <p:sp>
        <p:nvSpPr>
          <p:cNvPr id="7" name="Text 5"/>
          <p:cNvSpPr/>
          <p:nvPr/>
        </p:nvSpPr>
        <p:spPr>
          <a:xfrm>
            <a:off x="3749040" y="1856232"/>
            <a:ext cx="411480" cy="621792"/>
          </a:xfrm>
          <a:prstGeom prst="rect">
            <a:avLst/>
          </a:prstGeom>
          <a:noFill/>
          <a:ln/>
        </p:spPr>
        <p:txBody>
          <a:bodyPr wrap="square" lIns="0" tIns="0" rIns="0" bIns="0" rtlCol="0" anchor="ctr"/>
          <a:lstStyle/>
          <a:p>
            <a:pPr marL="0" indent="0">
              <a:buNone/>
            </a:pPr>
            <a:r>
              <a:rPr lang="en-US" sz="2200" b="1" dirty="0">
                <a:solidFill>
                  <a:srgbClr val="C8981F"/>
                </a:solidFill>
                <a:latin typeface="Georgia" pitchFamily="34" charset="0"/>
                <a:ea typeface="Georgia" pitchFamily="34" charset="-122"/>
                <a:cs typeface="Georgia" pitchFamily="34" charset="-120"/>
              </a:rPr>
              <a:t>2</a:t>
            </a:r>
            <a:endParaRPr lang="en-US" sz="2200" dirty="0"/>
          </a:p>
        </p:txBody>
      </p:sp>
      <p:sp>
        <p:nvSpPr>
          <p:cNvPr id="8" name="Text 6"/>
          <p:cNvSpPr/>
          <p:nvPr/>
        </p:nvSpPr>
        <p:spPr>
          <a:xfrm>
            <a:off x="4251960" y="1856232"/>
            <a:ext cx="4663440" cy="621792"/>
          </a:xfrm>
          <a:prstGeom prst="rect">
            <a:avLst/>
          </a:prstGeom>
          <a:noFill/>
          <a:ln/>
        </p:spPr>
        <p:txBody>
          <a:bodyPr wrap="square" lIns="0" tIns="0" rIns="0" bIns="0" rtlCol="0" anchor="ctr"/>
          <a:lstStyle/>
          <a:p>
            <a:pPr marL="0" indent="0">
              <a:buNone/>
            </a:pPr>
            <a:r>
              <a:rPr lang="en-US" sz="1400" b="1" dirty="0">
                <a:solidFill>
                  <a:srgbClr val="2F5061"/>
                </a:solidFill>
                <a:latin typeface="Calibri" pitchFamily="34" charset="0"/>
                <a:ea typeface="Calibri" pitchFamily="34" charset="-122"/>
                <a:cs typeface="Calibri" pitchFamily="34" charset="-120"/>
              </a:rPr>
              <a:t>Ask the honest question</a:t>
            </a:r>
            <a:endParaRPr lang="en-US" sz="1400" dirty="0"/>
          </a:p>
          <a:p>
            <a:pPr marL="0" indent="0">
              <a:buNone/>
            </a:pPr>
            <a:r>
              <a:rPr lang="en-US" sz="1200" dirty="0">
                <a:solidFill>
                  <a:srgbClr val="2D3142"/>
                </a:solidFill>
                <a:latin typeface="Calibri" pitchFamily="34" charset="0"/>
                <a:ea typeface="Calibri" pitchFamily="34" charset="-122"/>
                <a:cs typeface="Calibri" pitchFamily="34" charset="-120"/>
              </a:rPr>
              <a:t>For each person: on this word, which stage am I at — really?</a:t>
            </a:r>
            <a:endParaRPr lang="en-US" sz="1400" dirty="0"/>
          </a:p>
        </p:txBody>
      </p:sp>
      <p:sp>
        <p:nvSpPr>
          <p:cNvPr id="9" name="Text 7"/>
          <p:cNvSpPr/>
          <p:nvPr/>
        </p:nvSpPr>
        <p:spPr>
          <a:xfrm>
            <a:off x="3749040" y="2523744"/>
            <a:ext cx="411480" cy="621792"/>
          </a:xfrm>
          <a:prstGeom prst="rect">
            <a:avLst/>
          </a:prstGeom>
          <a:noFill/>
          <a:ln/>
        </p:spPr>
        <p:txBody>
          <a:bodyPr wrap="square" lIns="0" tIns="0" rIns="0" bIns="0" rtlCol="0" anchor="ctr"/>
          <a:lstStyle/>
          <a:p>
            <a:pPr marL="0" indent="0">
              <a:buNone/>
            </a:pPr>
            <a:r>
              <a:rPr lang="en-US" sz="2200" b="1" dirty="0">
                <a:solidFill>
                  <a:srgbClr val="C8981F"/>
                </a:solidFill>
                <a:latin typeface="Georgia" pitchFamily="34" charset="0"/>
                <a:ea typeface="Georgia" pitchFamily="34" charset="-122"/>
                <a:cs typeface="Georgia" pitchFamily="34" charset="-120"/>
              </a:rPr>
              <a:t>3</a:t>
            </a:r>
            <a:endParaRPr lang="en-US" sz="2200" dirty="0"/>
          </a:p>
        </p:txBody>
      </p:sp>
      <p:sp>
        <p:nvSpPr>
          <p:cNvPr id="10" name="Text 8"/>
          <p:cNvSpPr/>
          <p:nvPr/>
        </p:nvSpPr>
        <p:spPr>
          <a:xfrm>
            <a:off x="4251960" y="2523744"/>
            <a:ext cx="4663440" cy="621792"/>
          </a:xfrm>
          <a:prstGeom prst="rect">
            <a:avLst/>
          </a:prstGeom>
          <a:noFill/>
          <a:ln/>
        </p:spPr>
        <p:txBody>
          <a:bodyPr wrap="square" lIns="0" tIns="0" rIns="0" bIns="0" rtlCol="0" anchor="ctr"/>
          <a:lstStyle/>
          <a:p>
            <a:pPr marL="0" indent="0">
              <a:buNone/>
            </a:pPr>
            <a:r>
              <a:rPr lang="en-US" sz="1400" b="1" dirty="0">
                <a:solidFill>
                  <a:srgbClr val="2F5061"/>
                </a:solidFill>
                <a:latin typeface="Calibri" pitchFamily="34" charset="0"/>
                <a:ea typeface="Calibri" pitchFamily="34" charset="-122"/>
                <a:cs typeface="Calibri" pitchFamily="34" charset="-120"/>
              </a:rPr>
              <a:t>Name the gap</a:t>
            </a:r>
            <a:endParaRPr lang="en-US" sz="1400" dirty="0"/>
          </a:p>
          <a:p>
            <a:pPr marL="0" indent="0">
              <a:buNone/>
            </a:pPr>
            <a:r>
              <a:rPr lang="en-US" sz="1200" dirty="0">
                <a:solidFill>
                  <a:srgbClr val="2D3142"/>
                </a:solidFill>
                <a:latin typeface="Calibri" pitchFamily="34" charset="0"/>
                <a:ea typeface="Calibri" pitchFamily="34" charset="-122"/>
                <a:cs typeface="Calibri" pitchFamily="34" charset="-120"/>
              </a:rPr>
              <a:t>Where do I see the distance between the stage I'm on and the next one?</a:t>
            </a:r>
            <a:endParaRPr lang="en-US" sz="1400" dirty="0"/>
          </a:p>
        </p:txBody>
      </p:sp>
      <p:sp>
        <p:nvSpPr>
          <p:cNvPr id="11" name="Text 9"/>
          <p:cNvSpPr/>
          <p:nvPr/>
        </p:nvSpPr>
        <p:spPr>
          <a:xfrm>
            <a:off x="3749040" y="3191256"/>
            <a:ext cx="411480" cy="621792"/>
          </a:xfrm>
          <a:prstGeom prst="rect">
            <a:avLst/>
          </a:prstGeom>
          <a:noFill/>
          <a:ln/>
        </p:spPr>
        <p:txBody>
          <a:bodyPr wrap="square" lIns="0" tIns="0" rIns="0" bIns="0" rtlCol="0" anchor="ctr"/>
          <a:lstStyle/>
          <a:p>
            <a:pPr marL="0" indent="0">
              <a:buNone/>
            </a:pPr>
            <a:r>
              <a:rPr lang="en-US" sz="2200" b="1" dirty="0">
                <a:solidFill>
                  <a:srgbClr val="C8981F"/>
                </a:solidFill>
                <a:latin typeface="Georgia" pitchFamily="34" charset="0"/>
                <a:ea typeface="Georgia" pitchFamily="34" charset="-122"/>
                <a:cs typeface="Georgia" pitchFamily="34" charset="-120"/>
              </a:rPr>
              <a:t>4</a:t>
            </a:r>
            <a:endParaRPr lang="en-US" sz="2200" dirty="0"/>
          </a:p>
        </p:txBody>
      </p:sp>
      <p:sp>
        <p:nvSpPr>
          <p:cNvPr id="12" name="Text 10"/>
          <p:cNvSpPr/>
          <p:nvPr/>
        </p:nvSpPr>
        <p:spPr>
          <a:xfrm>
            <a:off x="4251960" y="3191256"/>
            <a:ext cx="4663440" cy="621792"/>
          </a:xfrm>
          <a:prstGeom prst="rect">
            <a:avLst/>
          </a:prstGeom>
          <a:noFill/>
          <a:ln/>
        </p:spPr>
        <p:txBody>
          <a:bodyPr wrap="square" lIns="0" tIns="0" rIns="0" bIns="0" rtlCol="0" anchor="ctr"/>
          <a:lstStyle/>
          <a:p>
            <a:pPr marL="0" indent="0">
              <a:buNone/>
            </a:pPr>
            <a:r>
              <a:rPr lang="en-US" sz="1400" b="1" dirty="0">
                <a:solidFill>
                  <a:srgbClr val="2F5061"/>
                </a:solidFill>
                <a:latin typeface="Calibri" pitchFamily="34" charset="0"/>
                <a:ea typeface="Calibri" pitchFamily="34" charset="-122"/>
                <a:cs typeface="Calibri" pitchFamily="34" charset="-120"/>
              </a:rPr>
              <a:t>Pray there</a:t>
            </a:r>
            <a:endParaRPr lang="en-US" sz="1400" dirty="0"/>
          </a:p>
          <a:p>
            <a:pPr marL="0" indent="0">
              <a:buNone/>
            </a:pPr>
            <a:r>
              <a:rPr lang="en-US" sz="1200" dirty="0">
                <a:solidFill>
                  <a:srgbClr val="2D3142"/>
                </a:solidFill>
                <a:latin typeface="Calibri" pitchFamily="34" charset="0"/>
                <a:ea typeface="Calibri" pitchFamily="34" charset="-122"/>
                <a:cs typeface="Calibri" pitchFamily="34" charset="-120"/>
              </a:rPr>
              <a:t>For one another, specifically, at that gap.</a:t>
            </a:r>
            <a:endParaRPr lang="en-US" sz="1400" dirty="0"/>
          </a:p>
        </p:txBody>
      </p:sp>
      <p:sp>
        <p:nvSpPr>
          <p:cNvPr id="13" name="Text 11"/>
          <p:cNvSpPr/>
          <p:nvPr/>
        </p:nvSpPr>
        <p:spPr>
          <a:xfrm>
            <a:off x="3749040" y="3858768"/>
            <a:ext cx="411480" cy="621792"/>
          </a:xfrm>
          <a:prstGeom prst="rect">
            <a:avLst/>
          </a:prstGeom>
          <a:noFill/>
          <a:ln/>
        </p:spPr>
        <p:txBody>
          <a:bodyPr wrap="square" lIns="0" tIns="0" rIns="0" bIns="0" rtlCol="0" anchor="ctr"/>
          <a:lstStyle/>
          <a:p>
            <a:pPr marL="0" indent="0">
              <a:buNone/>
            </a:pPr>
            <a:r>
              <a:rPr lang="en-US" sz="2200" b="1" dirty="0">
                <a:solidFill>
                  <a:srgbClr val="C8981F"/>
                </a:solidFill>
                <a:latin typeface="Georgia" pitchFamily="34" charset="0"/>
                <a:ea typeface="Georgia" pitchFamily="34" charset="-122"/>
                <a:cs typeface="Georgia" pitchFamily="34" charset="-120"/>
              </a:rPr>
              <a:t>5</a:t>
            </a:r>
            <a:endParaRPr lang="en-US" sz="2200" dirty="0"/>
          </a:p>
        </p:txBody>
      </p:sp>
      <p:sp>
        <p:nvSpPr>
          <p:cNvPr id="14" name="Text 12"/>
          <p:cNvSpPr/>
          <p:nvPr/>
        </p:nvSpPr>
        <p:spPr>
          <a:xfrm>
            <a:off x="4251960" y="3858768"/>
            <a:ext cx="4663440" cy="621792"/>
          </a:xfrm>
          <a:prstGeom prst="rect">
            <a:avLst/>
          </a:prstGeom>
          <a:noFill/>
          <a:ln/>
        </p:spPr>
        <p:txBody>
          <a:bodyPr wrap="square" lIns="0" tIns="0" rIns="0" bIns="0" rtlCol="0" anchor="ctr"/>
          <a:lstStyle/>
          <a:p>
            <a:pPr marL="0" indent="0">
              <a:buNone/>
            </a:pPr>
            <a:r>
              <a:rPr lang="en-US" sz="1400" b="1" dirty="0">
                <a:solidFill>
                  <a:srgbClr val="2F5061"/>
                </a:solidFill>
                <a:latin typeface="Calibri" pitchFamily="34" charset="0"/>
                <a:ea typeface="Calibri" pitchFamily="34" charset="-122"/>
                <a:cs typeface="Calibri" pitchFamily="34" charset="-120"/>
              </a:rPr>
              <a:t>Come back and ask what moved</a:t>
            </a:r>
            <a:endParaRPr lang="en-US" sz="1400" dirty="0"/>
          </a:p>
          <a:p>
            <a:pPr marL="0" indent="0">
              <a:buNone/>
            </a:pPr>
            <a:r>
              <a:rPr lang="en-US" sz="1200" dirty="0">
                <a:solidFill>
                  <a:srgbClr val="2D3142"/>
                </a:solidFill>
                <a:latin typeface="Calibri" pitchFamily="34" charset="0"/>
                <a:ea typeface="Calibri" pitchFamily="34" charset="-122"/>
                <a:cs typeface="Calibri" pitchFamily="34" charset="-120"/>
              </a:rPr>
              <a:t>Next week. The same passage. What is different?</a:t>
            </a:r>
            <a:endParaRPr lang="en-US" sz="1400" dirty="0"/>
          </a:p>
        </p:txBody>
      </p:sp>
      <p:sp>
        <p:nvSpPr>
          <p:cNvPr id="15" name="Text 13"/>
          <p:cNvSpPr/>
          <p:nvPr/>
        </p:nvSpPr>
        <p:spPr>
          <a:xfrm>
            <a:off x="457200" y="4617720"/>
            <a:ext cx="8229600" cy="320040"/>
          </a:xfrm>
          <a:prstGeom prst="rect">
            <a:avLst/>
          </a:prstGeom>
          <a:noFill/>
          <a:ln/>
        </p:spPr>
        <p:txBody>
          <a:bodyPr wrap="square" lIns="0" tIns="0" rIns="0" bIns="0" rtlCol="0" anchor="ctr"/>
          <a:lstStyle/>
          <a:p>
            <a:pPr marL="0" indent="0" algn="ctr">
              <a:buNone/>
            </a:pPr>
            <a:r>
              <a:rPr lang="en-US" sz="1200" i="1" dirty="0">
                <a:solidFill>
                  <a:srgbClr val="C8981F"/>
                </a:solidFill>
                <a:latin typeface="Calibri" pitchFamily="34" charset="0"/>
                <a:ea typeface="Calibri" pitchFamily="34" charset="-122"/>
                <a:cs typeface="Calibri" pitchFamily="34" charset="-120"/>
              </a:rPr>
              <a:t>It is that simple. And it takes a community — most of us cannot see our own stage clearly.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2F5061"/>
        </a:solidFill>
        <a:effectLst/>
      </p:bgPr>
    </p:bg>
    <p:spTree>
      <p:nvGrpSpPr>
        <p:cNvPr id="1" name=""/>
        <p:cNvGrpSpPr/>
        <p:nvPr/>
      </p:nvGrpSpPr>
      <p:grpSpPr>
        <a:xfrm>
          <a:off x="0" y="0"/>
          <a:ext cx="0" cy="0"/>
          <a:chOff x="0" y="0"/>
          <a:chExt cx="0" cy="0"/>
        </a:xfrm>
      </p:grpSpPr>
      <p:sp>
        <p:nvSpPr>
          <p:cNvPr id="2" name="Text 0"/>
          <p:cNvSpPr/>
          <p:nvPr/>
        </p:nvSpPr>
        <p:spPr>
          <a:xfrm>
            <a:off x="457200" y="548640"/>
            <a:ext cx="8229600" cy="457200"/>
          </a:xfrm>
          <a:prstGeom prst="rect">
            <a:avLst/>
          </a:prstGeom>
          <a:noFill/>
          <a:ln/>
        </p:spPr>
        <p:txBody>
          <a:bodyPr wrap="square" lIns="0" tIns="0" rIns="0" bIns="0" rtlCol="0" anchor="ctr"/>
          <a:lstStyle/>
          <a:p>
            <a:pPr marL="0" indent="0" algn="ctr">
              <a:buNone/>
            </a:pPr>
            <a:r>
              <a:rPr lang="en-US" sz="1600" b="1" kern="0" spc="400" dirty="0">
                <a:solidFill>
                  <a:srgbClr val="C8981F"/>
                </a:solidFill>
                <a:latin typeface="Calibri" pitchFamily="34" charset="0"/>
                <a:ea typeface="Calibri" pitchFamily="34" charset="-122"/>
                <a:cs typeface="Calibri" pitchFamily="34" charset="-120"/>
              </a:rPr>
              <a:t>The ask</a:t>
            </a:r>
            <a:endParaRPr lang="en-US" sz="1600" dirty="0"/>
          </a:p>
        </p:txBody>
      </p:sp>
      <p:sp>
        <p:nvSpPr>
          <p:cNvPr id="3" name="Text 1"/>
          <p:cNvSpPr/>
          <p:nvPr/>
        </p:nvSpPr>
        <p:spPr>
          <a:xfrm>
            <a:off x="457200" y="1188720"/>
            <a:ext cx="8229600" cy="822960"/>
          </a:xfrm>
          <a:prstGeom prst="rect">
            <a:avLst/>
          </a:prstGeom>
          <a:noFill/>
          <a:ln/>
        </p:spPr>
        <p:txBody>
          <a:bodyPr wrap="square" lIns="0" tIns="0" rIns="0" bIns="0" rtlCol="0" anchor="ctr"/>
          <a:lstStyle/>
          <a:p>
            <a:pPr marL="0" indent="0" algn="ctr">
              <a:buNone/>
            </a:pPr>
            <a:r>
              <a:rPr lang="en-US" sz="6000" b="1" dirty="0">
                <a:solidFill>
                  <a:srgbClr val="FFFFFF"/>
                </a:solidFill>
                <a:latin typeface="Georgia" pitchFamily="34" charset="0"/>
                <a:ea typeface="Georgia" pitchFamily="34" charset="-122"/>
                <a:cs typeface="Georgia" pitchFamily="34" charset="-120"/>
              </a:rPr>
              <a:t>Try it.</a:t>
            </a:r>
            <a:endParaRPr lang="en-US" sz="6000" dirty="0"/>
          </a:p>
        </p:txBody>
      </p:sp>
      <p:sp>
        <p:nvSpPr>
          <p:cNvPr id="4" name="Text 2"/>
          <p:cNvSpPr/>
          <p:nvPr/>
        </p:nvSpPr>
        <p:spPr>
          <a:xfrm>
            <a:off x="457200" y="2286000"/>
            <a:ext cx="8229600" cy="457200"/>
          </a:xfrm>
          <a:prstGeom prst="rect">
            <a:avLst/>
          </a:prstGeom>
          <a:noFill/>
          <a:ln/>
        </p:spPr>
        <p:txBody>
          <a:bodyPr wrap="square" lIns="0" tIns="0" rIns="0" bIns="0" rtlCol="0" anchor="ctr"/>
          <a:lstStyle/>
          <a:p>
            <a:pPr marL="0" indent="0" algn="ctr">
              <a:buNone/>
            </a:pPr>
            <a:r>
              <a:rPr lang="en-US" sz="2200" i="1" dirty="0">
                <a:solidFill>
                  <a:srgbClr val="E8E3D5"/>
                </a:solidFill>
                <a:latin typeface="Georgia" pitchFamily="34" charset="0"/>
                <a:ea typeface="Georgia" pitchFamily="34" charset="-122"/>
                <a:cs typeface="Georgia" pitchFamily="34" charset="-120"/>
              </a:rPr>
              <a:t>Three meetings. One passage. The five-stage question.</a:t>
            </a:r>
            <a:endParaRPr lang="en-US" sz="2200" dirty="0"/>
          </a:p>
        </p:txBody>
      </p:sp>
      <p:sp>
        <p:nvSpPr>
          <p:cNvPr id="5" name="Shape 3"/>
          <p:cNvSpPr/>
          <p:nvPr/>
        </p:nvSpPr>
        <p:spPr>
          <a:xfrm>
            <a:off x="4114800" y="3017520"/>
            <a:ext cx="914400" cy="27432"/>
          </a:xfrm>
          <a:prstGeom prst="rect">
            <a:avLst/>
          </a:prstGeom>
          <a:solidFill>
            <a:srgbClr val="C8981F"/>
          </a:solidFill>
          <a:ln w="12700">
            <a:solidFill>
              <a:srgbClr val="C8981F"/>
            </a:solidFill>
            <a:prstDash val="solid"/>
          </a:ln>
        </p:spPr>
        <p:txBody>
          <a:bodyPr/>
          <a:lstStyle/>
          <a:p>
            <a:endParaRPr lang="en-US"/>
          </a:p>
        </p:txBody>
      </p:sp>
      <p:sp>
        <p:nvSpPr>
          <p:cNvPr id="6" name="Text 4"/>
          <p:cNvSpPr/>
          <p:nvPr/>
        </p:nvSpPr>
        <p:spPr>
          <a:xfrm>
            <a:off x="914400" y="3246120"/>
            <a:ext cx="7315200" cy="1371600"/>
          </a:xfrm>
          <a:prstGeom prst="rect">
            <a:avLst/>
          </a:prstGeom>
          <a:noFill/>
          <a:ln/>
        </p:spPr>
        <p:txBody>
          <a:bodyPr wrap="square" lIns="0" tIns="0" rIns="0" bIns="0" rtlCol="0" anchor="t"/>
          <a:lstStyle/>
          <a:p>
            <a:pPr marL="0" indent="0" algn="ctr">
              <a:buNone/>
            </a:pPr>
            <a:r>
              <a:rPr lang="en-US" sz="1600" dirty="0">
                <a:solidFill>
                  <a:srgbClr val="D8D3C5"/>
                </a:solidFill>
                <a:latin typeface="Calibri" pitchFamily="34" charset="0"/>
                <a:ea typeface="Calibri" pitchFamily="34" charset="-122"/>
                <a:cs typeface="Calibri" pitchFamily="34" charset="-120"/>
              </a:rPr>
              <a:t>Not to adopt it. Not to endorse it.</a:t>
            </a:r>
            <a:endParaRPr lang="en-US" sz="1600" dirty="0"/>
          </a:p>
          <a:p>
            <a:pPr marL="0" indent="0" algn="ctr">
              <a:buNone/>
            </a:pPr>
            <a:r>
              <a:rPr lang="en-US" sz="1600" dirty="0">
                <a:solidFill>
                  <a:srgbClr val="D8D3C5"/>
                </a:solidFill>
                <a:latin typeface="Calibri" pitchFamily="34" charset="0"/>
                <a:ea typeface="Calibri" pitchFamily="34" charset="-122"/>
                <a:cs typeface="Calibri" pitchFamily="34" charset="-120"/>
              </a:rPr>
              <a:t>Just try it — and tell me what you saw.</a:t>
            </a:r>
            <a:endParaRPr lang="en-US" sz="1600" dirty="0"/>
          </a:p>
          <a:p>
            <a:pPr marL="0" indent="0" algn="ctr">
              <a:buNone/>
            </a:pPr>
            <a:r>
              <a:rPr lang="en-US" sz="1000" dirty="0">
                <a:solidFill>
                  <a:srgbClr val="D8D3C5"/>
                </a:solidFill>
                <a:latin typeface="Calibri" pitchFamily="34" charset="0"/>
                <a:ea typeface="Calibri" pitchFamily="34" charset="-122"/>
                <a:cs typeface="Calibri" pitchFamily="34" charset="-120"/>
              </a:rPr>
              <a:t> </a:t>
            </a:r>
            <a:endParaRPr lang="en-US" sz="1600" dirty="0"/>
          </a:p>
          <a:p>
            <a:pPr marL="0" indent="0" algn="ctr">
              <a:buNone/>
            </a:pPr>
            <a:r>
              <a:rPr lang="en-US" sz="1600" i="1" dirty="0">
                <a:solidFill>
                  <a:srgbClr val="C8981F"/>
                </a:solidFill>
                <a:latin typeface="Calibri" pitchFamily="34" charset="0"/>
                <a:ea typeface="Calibri" pitchFamily="34" charset="-122"/>
                <a:cs typeface="Calibri" pitchFamily="34" charset="-120"/>
              </a:rPr>
              <a:t>This work is a draft. It is meant to be tested.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2800" b="1" dirty="0">
                <a:solidFill>
                  <a:srgbClr val="2F5061"/>
                </a:solidFill>
                <a:latin typeface="Georgia" pitchFamily="34" charset="0"/>
                <a:ea typeface="Georgia" pitchFamily="34" charset="-122"/>
                <a:cs typeface="Georgia" pitchFamily="34" charset="-120"/>
              </a:rPr>
              <a:t>An invitation — still open</a:t>
            </a:r>
            <a:endParaRPr lang="en-US" sz="2800" dirty="0"/>
          </a:p>
        </p:txBody>
      </p:sp>
      <p:sp>
        <p:nvSpPr>
          <p:cNvPr id="3" name="Shape 1"/>
          <p:cNvSpPr/>
          <p:nvPr/>
        </p:nvSpPr>
        <p:spPr>
          <a:xfrm>
            <a:off x="457200" y="1188720"/>
            <a:ext cx="3291840" cy="3108960"/>
          </a:xfrm>
          <a:prstGeom prst="rect">
            <a:avLst/>
          </a:prstGeom>
          <a:solidFill>
            <a:srgbClr val="F5F1EA"/>
          </a:solidFill>
          <a:ln w="12700">
            <a:solidFill>
              <a:srgbClr val="7A8A9C"/>
            </a:solidFill>
            <a:prstDash val="dash"/>
          </a:ln>
        </p:spPr>
        <p:txBody>
          <a:bodyPr/>
          <a:lstStyle/>
          <a:p>
            <a:endParaRPr lang="en-US"/>
          </a:p>
        </p:txBody>
      </p:sp>
      <p:sp>
        <p:nvSpPr>
          <p:cNvPr id="4" name="Text 2"/>
          <p:cNvSpPr/>
          <p:nvPr/>
        </p:nvSpPr>
        <p:spPr>
          <a:xfrm>
            <a:off x="457200" y="2578608"/>
            <a:ext cx="3291840" cy="329184"/>
          </a:xfrm>
          <a:prstGeom prst="rect">
            <a:avLst/>
          </a:prstGeom>
          <a:noFill/>
          <a:ln/>
        </p:spPr>
        <p:txBody>
          <a:bodyPr wrap="square" rtlCol="0" anchor="ctr"/>
          <a:lstStyle/>
          <a:p>
            <a:pPr marL="0" indent="0" algn="ctr">
              <a:buNone/>
            </a:pPr>
            <a:r>
              <a:rPr lang="en-US" sz="1100" i="1" dirty="0">
                <a:solidFill>
                  <a:srgbClr val="7A8A9C"/>
                </a:solidFill>
                <a:latin typeface="Calibri" pitchFamily="34" charset="0"/>
                <a:ea typeface="Calibri" pitchFamily="34" charset="-122"/>
                <a:cs typeface="Calibri" pitchFamily="34" charset="-120"/>
              </a:rPr>
              <a:t>Family photo</a:t>
            </a:r>
            <a:endParaRPr lang="en-US" sz="1100" dirty="0"/>
          </a:p>
          <a:p>
            <a:pPr marL="0" indent="0" algn="ctr">
              <a:buNone/>
            </a:pPr>
            <a:r>
              <a:rPr lang="en-US" sz="1100" i="1" dirty="0">
                <a:solidFill>
                  <a:srgbClr val="7A8A9C"/>
                </a:solidFill>
                <a:latin typeface="Calibri" pitchFamily="34" charset="0"/>
                <a:ea typeface="Calibri" pitchFamily="34" charset="-122"/>
                <a:cs typeface="Calibri" pitchFamily="34" charset="-120"/>
              </a:rPr>
              <a:t>or an image from the journey</a:t>
            </a:r>
            <a:endParaRPr lang="en-US" sz="1100" dirty="0"/>
          </a:p>
          <a:p>
            <a:pPr marL="0" indent="0" algn="ctr">
              <a:buNone/>
            </a:pPr>
            <a:r>
              <a:rPr lang="en-US" sz="1100" i="1" dirty="0">
                <a:solidFill>
                  <a:srgbClr val="7A8A9C"/>
                </a:solidFill>
                <a:latin typeface="Calibri" pitchFamily="34" charset="0"/>
                <a:ea typeface="Calibri" pitchFamily="34" charset="-122"/>
                <a:cs typeface="Calibri" pitchFamily="34" charset="-120"/>
              </a:rPr>
              <a:t>(swap in)</a:t>
            </a:r>
            <a:endParaRPr lang="en-US" sz="1100" dirty="0"/>
          </a:p>
        </p:txBody>
      </p:sp>
      <p:sp>
        <p:nvSpPr>
          <p:cNvPr id="5" name="Text 3"/>
          <p:cNvSpPr/>
          <p:nvPr/>
        </p:nvSpPr>
        <p:spPr>
          <a:xfrm>
            <a:off x="4114800" y="1188720"/>
            <a:ext cx="4754880" cy="3108960"/>
          </a:xfrm>
          <a:prstGeom prst="rect">
            <a:avLst/>
          </a:prstGeom>
          <a:noFill/>
          <a:ln/>
        </p:spPr>
        <p:txBody>
          <a:bodyPr wrap="square" lIns="0" tIns="0" rIns="0" bIns="0" rtlCol="0" anchor="t"/>
          <a:lstStyle/>
          <a:p>
            <a:pPr marL="0" indent="0">
              <a:buNone/>
            </a:pPr>
            <a:r>
              <a:rPr lang="en-US" sz="1400" dirty="0">
                <a:solidFill>
                  <a:srgbClr val="2D3142"/>
                </a:solidFill>
                <a:latin typeface="Calibri" pitchFamily="34" charset="0"/>
                <a:ea typeface="Calibri" pitchFamily="34" charset="-122"/>
                <a:cs typeface="Calibri" pitchFamily="34" charset="-120"/>
              </a:rPr>
              <a:t>This started as notes to my kids. It has become a journey I want to invite others into.</a:t>
            </a:r>
            <a:endParaRPr lang="en-US" sz="14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dirty="0">
                <a:solidFill>
                  <a:srgbClr val="2D3142"/>
                </a:solidFill>
                <a:latin typeface="Calibri" pitchFamily="34" charset="0"/>
                <a:ea typeface="Calibri" pitchFamily="34" charset="-122"/>
                <a:cs typeface="Calibri" pitchFamily="34" charset="-120"/>
              </a:rPr>
              <a:t>None of us is far along on every front. That is fine. The point is to notice where you actually are — and take the next step, with a community that will tell you the truth.</a:t>
            </a:r>
            <a:endParaRPr lang="en-US" sz="14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i="1" dirty="0">
                <a:solidFill>
                  <a:srgbClr val="C8981F"/>
                </a:solidFill>
                <a:latin typeface="Calibri" pitchFamily="34" charset="0"/>
                <a:ea typeface="Calibri" pitchFamily="34" charset="-122"/>
                <a:cs typeface="Calibri" pitchFamily="34" charset="-120"/>
              </a:rPr>
              <a:t>"Further up, and further in."</a:t>
            </a:r>
            <a:endParaRPr lang="en-US" sz="1400" dirty="0"/>
          </a:p>
          <a:p>
            <a:pPr marL="0" indent="0">
              <a:buNone/>
            </a:pPr>
            <a:r>
              <a:rPr lang="en-US" sz="1100" i="1" dirty="0">
                <a:solidFill>
                  <a:srgbClr val="7A8A9C"/>
                </a:solidFill>
                <a:latin typeface="Calibri" pitchFamily="34" charset="0"/>
                <a:ea typeface="Calibri" pitchFamily="34" charset="-122"/>
                <a:cs typeface="Calibri" pitchFamily="34" charset="-120"/>
              </a:rPr>
              <a:t>C.S. Lewis, The Last Battle</a:t>
            </a:r>
            <a:endParaRPr lang="en-US" sz="1400" dirty="0"/>
          </a:p>
        </p:txBody>
      </p:sp>
      <p:sp>
        <p:nvSpPr>
          <p:cNvPr id="6" name="Shape 4"/>
          <p:cNvSpPr/>
          <p:nvPr/>
        </p:nvSpPr>
        <p:spPr>
          <a:xfrm>
            <a:off x="0" y="4480560"/>
            <a:ext cx="9144000" cy="662940"/>
          </a:xfrm>
          <a:prstGeom prst="rect">
            <a:avLst/>
          </a:prstGeom>
          <a:solidFill>
            <a:srgbClr val="F5F1EA"/>
          </a:solidFill>
          <a:ln w="12700">
            <a:solidFill>
              <a:srgbClr val="F5F1EA"/>
            </a:solidFill>
            <a:prstDash val="solid"/>
          </a:ln>
        </p:spPr>
        <p:txBody>
          <a:bodyPr/>
          <a:lstStyle/>
          <a:p>
            <a:endParaRPr lang="en-US"/>
          </a:p>
        </p:txBody>
      </p:sp>
      <p:sp>
        <p:nvSpPr>
          <p:cNvPr id="7" name="Text 5"/>
          <p:cNvSpPr/>
          <p:nvPr/>
        </p:nvSpPr>
        <p:spPr>
          <a:xfrm>
            <a:off x="457200" y="4572000"/>
            <a:ext cx="8229600" cy="480060"/>
          </a:xfrm>
          <a:prstGeom prst="rect">
            <a:avLst/>
          </a:prstGeom>
          <a:noFill/>
          <a:ln/>
        </p:spPr>
        <p:txBody>
          <a:bodyPr wrap="square" lIns="0" tIns="0" rIns="0" bIns="0" rtlCol="0" anchor="ctr"/>
          <a:lstStyle/>
          <a:p>
            <a:pPr marL="0" indent="0" algn="ctr">
              <a:buNone/>
            </a:pPr>
            <a:r>
              <a:rPr lang="en-US" sz="1200" dirty="0">
                <a:solidFill>
                  <a:srgbClr val="7A8A9C"/>
                </a:solidFill>
                <a:latin typeface="Calibri" pitchFamily="34" charset="0"/>
                <a:ea typeface="Calibri" pitchFamily="34" charset="-122"/>
                <a:cs typeface="Calibri" pitchFamily="34" charset="-120"/>
              </a:rPr>
              <a:t>Read more: </a:t>
            </a:r>
            <a:r>
              <a:rPr lang="en-US" sz="1200" b="1" dirty="0">
                <a:solidFill>
                  <a:srgbClr val="2F5061"/>
                </a:solidFill>
                <a:latin typeface="Calibri" pitchFamily="34" charset="0"/>
                <a:ea typeface="Calibri" pitchFamily="34" charset="-122"/>
                <a:cs typeface="Calibri" pitchFamily="34" charset="-120"/>
              </a:rPr>
              <a:t>epithetical.github.io/intentional-journey-of-the-heart/</a:t>
            </a:r>
            <a:r>
              <a:rPr lang="en-US" sz="1200" dirty="0">
                <a:solidFill>
                  <a:srgbClr val="7A8A9C"/>
                </a:solidFill>
                <a:latin typeface="Calibri" pitchFamily="34" charset="0"/>
                <a:ea typeface="Calibri" pitchFamily="34" charset="-122"/>
                <a:cs typeface="Calibri" pitchFamily="34" charset="-120"/>
              </a:rPr>
              <a:t>     |     Contact: </a:t>
            </a:r>
            <a:r>
              <a:rPr lang="en-US" sz="1200" b="1" dirty="0">
                <a:solidFill>
                  <a:srgbClr val="2F5061"/>
                </a:solidFill>
                <a:latin typeface="Calibri" pitchFamily="34" charset="0"/>
                <a:ea typeface="Calibri" pitchFamily="34" charset="-122"/>
                <a:cs typeface="Calibri" pitchFamily="34" charset="-120"/>
              </a:rPr>
              <a:t>John G. Tittle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3130</TotalTime>
  <Words>2638</Words>
  <Application>Microsoft Office PowerPoint</Application>
  <PresentationFormat>On-screen Show (16:9)</PresentationFormat>
  <Paragraphs>162</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Intentional Journey of the Heart</dc:title>
  <dc:subject>PptxGenJS Presentation</dc:subject>
  <dc:creator>John G. Tittle</dc:creator>
  <cp:lastModifiedBy>John Tittle</cp:lastModifiedBy>
  <cp:revision>2</cp:revision>
  <dcterms:created xsi:type="dcterms:W3CDTF">2026-04-17T18:48:26Z</dcterms:created>
  <dcterms:modified xsi:type="dcterms:W3CDTF">2026-04-19T23:01:03Z</dcterms:modified>
</cp:coreProperties>
</file>